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7" r:id="rId10"/>
    <p:sldId id="268" r:id="rId11"/>
    <p:sldId id="264" r:id="rId12"/>
    <p:sldId id="265" r:id="rId13"/>
  </p:sldIdLst>
  <p:sldSz cx="18288000" cy="10287000"/>
  <p:notesSz cx="6858000" cy="9144000"/>
  <p:embeddedFontLst>
    <p:embeddedFont>
      <p:font typeface="Arimo" panose="020B0604020202020204" charset="0"/>
      <p:regular r:id="rId14"/>
    </p:embeddedFont>
    <p:embeddedFont>
      <p:font typeface="Arimo Bold" panose="020B0604020202020204" charset="0"/>
      <p:regular r:id="rId15"/>
    </p:embeddedFont>
    <p:embeddedFont>
      <p:font typeface="Canva Sans" panose="020B0604020202020204" charset="0"/>
      <p:regular r:id="rId16"/>
    </p:embeddedFont>
    <p:embeddedFont>
      <p:font typeface="Canva Sans Bold" panose="020B0604020202020204" charset="0"/>
      <p:regular r:id="rId17"/>
    </p:embeddedFont>
    <p:embeddedFont>
      <p:font typeface="Canva Sans Italics" panose="020B0604020202020204" charset="0"/>
      <p:regular r:id="rId18"/>
    </p:embeddedFont>
    <p:embeddedFont>
      <p:font typeface="Montserrat" panose="00000500000000000000" pitchFamily="2" charset="0"/>
      <p:regular r:id="rId19"/>
    </p:embeddedFont>
    <p:embeddedFont>
      <p:font typeface="Montserrat Bold" panose="020B0604020202020204" charset="0"/>
      <p:regular r:id="rId20"/>
    </p:embeddedFont>
    <p:embeddedFont>
      <p:font typeface="Open Sauce" panose="020B0604020202020204" charset="0"/>
      <p:regular r:id="rId21"/>
    </p:embeddedFont>
    <p:embeddedFont>
      <p:font typeface="Open Sauce Bold" panose="020B0604020202020204" charset="0"/>
      <p:regular r:id="rId22"/>
    </p:embeddedFont>
    <p:embeddedFont>
      <p:font typeface="Open Sauce Light" panose="020B0604020202020204" charset="0"/>
      <p:regular r:id="rId23"/>
    </p:embeddedFont>
    <p:embeddedFont>
      <p:font typeface="Oswald" panose="00000500000000000000" pitchFamily="2" charset="0"/>
      <p:regular r:id="rId24"/>
    </p:embeddedFont>
    <p:embeddedFont>
      <p:font typeface="Poppins" panose="00000500000000000000" pitchFamily="2" charset="0"/>
      <p:regular r:id="rId25"/>
    </p:embeddedFont>
    <p:embeddedFont>
      <p:font typeface="Telegraf" panose="020B0604020202020204" charset="0"/>
      <p:regular r:id="rId26"/>
    </p:embeddedFont>
    <p:embeddedFont>
      <p:font typeface="Telegraf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grpSp>
        <p:nvGrpSpPr>
          <p:cNvPr id="2" name="Group 2"/>
          <p:cNvGrpSpPr/>
          <p:nvPr/>
        </p:nvGrpSpPr>
        <p:grpSpPr>
          <a:xfrm rot="5612460">
            <a:off x="9539564" y="-260042"/>
            <a:ext cx="9268254" cy="10413768"/>
            <a:chOff x="0" y="0"/>
            <a:chExt cx="12357672" cy="13885024"/>
          </a:xfrm>
        </p:grpSpPr>
        <p:sp>
          <p:nvSpPr>
            <p:cNvPr id="3" name="Freeform 3"/>
            <p:cNvSpPr/>
            <p:nvPr/>
          </p:nvSpPr>
          <p:spPr>
            <a:xfrm>
              <a:off x="0" y="0"/>
              <a:ext cx="12357608" cy="13885038"/>
            </a:xfrm>
            <a:custGeom>
              <a:avLst/>
              <a:gdLst/>
              <a:ahLst/>
              <a:cxnLst/>
              <a:rect l="l" t="t" r="r" b="b"/>
              <a:pathLst>
                <a:path w="12357608" h="13885038">
                  <a:moveTo>
                    <a:pt x="0" y="0"/>
                  </a:moveTo>
                  <a:lnTo>
                    <a:pt x="12357608" y="0"/>
                  </a:lnTo>
                  <a:lnTo>
                    <a:pt x="12357608" y="13885038"/>
                  </a:lnTo>
                  <a:lnTo>
                    <a:pt x="0" y="13885038"/>
                  </a:lnTo>
                  <a:lnTo>
                    <a:pt x="0" y="0"/>
                  </a:lnTo>
                  <a:close/>
                </a:path>
              </a:pathLst>
            </a:custGeom>
            <a:blipFill>
              <a:blip r:embed="rId2"/>
              <a:stretch>
                <a:fillRect l="-21" r="-21"/>
              </a:stretch>
            </a:blipFill>
          </p:spPr>
          <p:txBody>
            <a:bodyPr/>
            <a:lstStyle/>
            <a:p>
              <a:endParaRPr lang="en-IN"/>
            </a:p>
          </p:txBody>
        </p:sp>
      </p:grpSp>
      <p:sp>
        <p:nvSpPr>
          <p:cNvPr id="4" name="Freeform 4"/>
          <p:cNvSpPr/>
          <p:nvPr/>
        </p:nvSpPr>
        <p:spPr>
          <a:xfrm>
            <a:off x="824370" y="672398"/>
            <a:ext cx="492871" cy="492871"/>
          </a:xfrm>
          <a:custGeom>
            <a:avLst/>
            <a:gdLst/>
            <a:ahLst/>
            <a:cxnLst/>
            <a:rect l="l" t="t" r="r" b="b"/>
            <a:pathLst>
              <a:path w="492871" h="492871">
                <a:moveTo>
                  <a:pt x="0" y="0"/>
                </a:moveTo>
                <a:lnTo>
                  <a:pt x="492871" y="0"/>
                </a:lnTo>
                <a:lnTo>
                  <a:pt x="492871" y="492871"/>
                </a:lnTo>
                <a:lnTo>
                  <a:pt x="0" y="49287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1461859" y="3707854"/>
            <a:ext cx="5465588" cy="3648818"/>
          </a:xfrm>
          <a:prstGeom prst="rect">
            <a:avLst/>
          </a:prstGeom>
        </p:spPr>
        <p:txBody>
          <a:bodyPr lIns="0" tIns="0" rIns="0" bIns="0" rtlCol="0" anchor="t">
            <a:spAutoFit/>
          </a:bodyPr>
          <a:lstStyle/>
          <a:p>
            <a:pPr algn="l">
              <a:lnSpc>
                <a:spcPts val="9859"/>
              </a:lnSpc>
            </a:pPr>
            <a:r>
              <a:rPr lang="en-US" sz="9390" spc="-477">
                <a:solidFill>
                  <a:srgbClr val="FFFFFF"/>
                </a:solidFill>
                <a:latin typeface="Open Sauce Light"/>
                <a:ea typeface="Open Sauce Light"/>
                <a:cs typeface="Open Sauce Light"/>
                <a:sym typeface="Open Sauce Light"/>
              </a:rPr>
              <a:t>Bank Account Simluation</a:t>
            </a:r>
          </a:p>
        </p:txBody>
      </p:sp>
      <p:sp>
        <p:nvSpPr>
          <p:cNvPr id="6" name="TextBox 6"/>
          <p:cNvSpPr txBox="1"/>
          <p:nvPr/>
        </p:nvSpPr>
        <p:spPr>
          <a:xfrm>
            <a:off x="1461859" y="2279456"/>
            <a:ext cx="6330334" cy="512961"/>
          </a:xfrm>
          <a:prstGeom prst="rect">
            <a:avLst/>
          </a:prstGeom>
        </p:spPr>
        <p:txBody>
          <a:bodyPr lIns="0" tIns="0" rIns="0" bIns="0" rtlCol="0" anchor="t">
            <a:spAutoFit/>
          </a:bodyPr>
          <a:lstStyle/>
          <a:p>
            <a:pPr algn="l">
              <a:lnSpc>
                <a:spcPts val="3958"/>
              </a:lnSpc>
            </a:pPr>
            <a:r>
              <a:rPr lang="en-US" sz="3771" spc="-192" dirty="0">
                <a:solidFill>
                  <a:srgbClr val="FFFFFF"/>
                </a:solidFill>
                <a:latin typeface="Open Sauce Light"/>
                <a:ea typeface="Open Sauce Light"/>
                <a:cs typeface="Open Sauce Light"/>
                <a:sym typeface="Open Sauce Light"/>
              </a:rPr>
              <a:t>Data Structures: Mini Project</a:t>
            </a:r>
          </a:p>
        </p:txBody>
      </p:sp>
      <p:sp>
        <p:nvSpPr>
          <p:cNvPr id="7" name="TextBox 7"/>
          <p:cNvSpPr txBox="1"/>
          <p:nvPr/>
        </p:nvSpPr>
        <p:spPr>
          <a:xfrm>
            <a:off x="8690562" y="8863965"/>
            <a:ext cx="906875" cy="394335"/>
          </a:xfrm>
          <a:prstGeom prst="rect">
            <a:avLst/>
          </a:prstGeom>
        </p:spPr>
        <p:txBody>
          <a:bodyPr lIns="0" tIns="0" rIns="0" bIns="0" rtlCol="0" anchor="t">
            <a:spAutoFit/>
          </a:bodyPr>
          <a:lstStyle/>
          <a:p>
            <a:pPr algn="ctr">
              <a:lnSpc>
                <a:spcPts val="2940"/>
              </a:lnSpc>
            </a:pPr>
            <a:r>
              <a:rPr lang="en-US" sz="2100">
                <a:solidFill>
                  <a:srgbClr val="FFFFFF"/>
                </a:solidFill>
                <a:latin typeface="Montserrat"/>
                <a:ea typeface="Montserrat"/>
                <a:cs typeface="Montserrat"/>
                <a:sym typeface="Montserrat"/>
              </a:rPr>
              <a:t>-</a:t>
            </a:r>
          </a:p>
        </p:txBody>
      </p:sp>
      <p:sp>
        <p:nvSpPr>
          <p:cNvPr id="8" name="TextBox 8"/>
          <p:cNvSpPr txBox="1"/>
          <p:nvPr/>
        </p:nvSpPr>
        <p:spPr>
          <a:xfrm>
            <a:off x="12119162" y="325564"/>
            <a:ext cx="5344478" cy="1906267"/>
          </a:xfrm>
          <a:prstGeom prst="rect">
            <a:avLst/>
          </a:prstGeom>
        </p:spPr>
        <p:txBody>
          <a:bodyPr lIns="0" tIns="0" rIns="0" bIns="0" rtlCol="0" anchor="t">
            <a:spAutoFit/>
          </a:bodyPr>
          <a:lstStyle/>
          <a:p>
            <a:pPr algn="ctr">
              <a:lnSpc>
                <a:spcPts val="7279"/>
              </a:lnSpc>
            </a:pPr>
            <a:r>
              <a:rPr lang="en-US" sz="5198">
                <a:solidFill>
                  <a:srgbClr val="FFFFFF"/>
                </a:solidFill>
                <a:latin typeface="Open Sauce"/>
                <a:ea typeface="Open Sauce"/>
                <a:cs typeface="Open Sauce"/>
                <a:sym typeface="Open Sauce"/>
              </a:rPr>
              <a:t>Group Members:</a:t>
            </a:r>
          </a:p>
          <a:p>
            <a:pPr algn="ctr">
              <a:lnSpc>
                <a:spcPts val="7279"/>
              </a:lnSpc>
            </a:pPr>
            <a:endParaRPr lang="en-US" sz="5198">
              <a:solidFill>
                <a:srgbClr val="FFFFFF"/>
              </a:solidFill>
              <a:latin typeface="Open Sauce"/>
              <a:ea typeface="Open Sauce"/>
              <a:cs typeface="Open Sauce"/>
              <a:sym typeface="Open Sauce"/>
            </a:endParaRPr>
          </a:p>
        </p:txBody>
      </p:sp>
      <p:sp>
        <p:nvSpPr>
          <p:cNvPr id="9" name="TextBox 9"/>
          <p:cNvSpPr txBox="1"/>
          <p:nvPr/>
        </p:nvSpPr>
        <p:spPr>
          <a:xfrm>
            <a:off x="10515600" y="2150840"/>
            <a:ext cx="7267604" cy="2475224"/>
          </a:xfrm>
          <a:prstGeom prst="rect">
            <a:avLst/>
          </a:prstGeom>
        </p:spPr>
        <p:txBody>
          <a:bodyPr lIns="0" tIns="0" rIns="0" bIns="0" rtlCol="0" anchor="t">
            <a:spAutoFit/>
          </a:bodyPr>
          <a:lstStyle/>
          <a:p>
            <a:pPr algn="ctr">
              <a:lnSpc>
                <a:spcPts val="4759"/>
              </a:lnSpc>
            </a:pPr>
            <a:r>
              <a:rPr lang="en-US" sz="3399" dirty="0">
                <a:solidFill>
                  <a:srgbClr val="FFFFFF"/>
                </a:solidFill>
                <a:latin typeface="Open Sauce"/>
                <a:ea typeface="Open Sauce"/>
                <a:cs typeface="Open Sauce"/>
                <a:sym typeface="Open Sauce"/>
              </a:rPr>
              <a:t>Aditya Mohite - 1262253387</a:t>
            </a:r>
          </a:p>
          <a:p>
            <a:pPr algn="ctr">
              <a:lnSpc>
                <a:spcPts val="4759"/>
              </a:lnSpc>
            </a:pPr>
            <a:r>
              <a:rPr lang="en-US" sz="3399" dirty="0">
                <a:solidFill>
                  <a:srgbClr val="FFFFFF"/>
                </a:solidFill>
                <a:latin typeface="Open Sauce"/>
                <a:ea typeface="Open Sauce"/>
                <a:cs typeface="Open Sauce"/>
                <a:sym typeface="Open Sauce"/>
              </a:rPr>
              <a:t>Tanishka Parab - 1262254144</a:t>
            </a:r>
          </a:p>
          <a:p>
            <a:pPr algn="ctr">
              <a:lnSpc>
                <a:spcPts val="4759"/>
              </a:lnSpc>
            </a:pPr>
            <a:r>
              <a:rPr lang="en-US" sz="3399" dirty="0">
                <a:solidFill>
                  <a:srgbClr val="FFFFFF"/>
                </a:solidFill>
                <a:latin typeface="Open Sauce"/>
                <a:ea typeface="Open Sauce"/>
                <a:cs typeface="Open Sauce"/>
                <a:sym typeface="Open Sauce"/>
              </a:rPr>
              <a:t>Kushal Saboo - 1262253932</a:t>
            </a:r>
          </a:p>
          <a:p>
            <a:pPr algn="ctr">
              <a:lnSpc>
                <a:spcPts val="4759"/>
              </a:lnSpc>
            </a:pPr>
            <a:r>
              <a:rPr lang="en-US" sz="3399" dirty="0">
                <a:solidFill>
                  <a:srgbClr val="FFFFFF"/>
                </a:solidFill>
                <a:latin typeface="Open Sauce"/>
                <a:ea typeface="Open Sauce"/>
                <a:cs typeface="Open Sauce"/>
                <a:sym typeface="Open Sauce"/>
              </a:rPr>
              <a:t>Anurag Chavan - 1262253957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a:off x="296113" y="204873"/>
            <a:ext cx="17695774" cy="9732588"/>
          </a:xfrm>
          <a:custGeom>
            <a:avLst/>
            <a:gdLst/>
            <a:ahLst/>
            <a:cxnLst/>
            <a:rect l="l" t="t" r="r" b="b"/>
            <a:pathLst>
              <a:path w="17695774" h="9732588">
                <a:moveTo>
                  <a:pt x="0" y="0"/>
                </a:moveTo>
                <a:lnTo>
                  <a:pt x="17695774" y="0"/>
                </a:lnTo>
                <a:lnTo>
                  <a:pt x="17695774" y="9732588"/>
                </a:lnTo>
                <a:lnTo>
                  <a:pt x="0" y="97325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803986" y="803986"/>
            <a:ext cx="449428" cy="449428"/>
          </a:xfrm>
          <a:custGeom>
            <a:avLst/>
            <a:gdLst/>
            <a:ahLst/>
            <a:cxnLst/>
            <a:rect l="l" t="t" r="r" b="b"/>
            <a:pathLst>
              <a:path w="449428" h="449428">
                <a:moveTo>
                  <a:pt x="0" y="0"/>
                </a:moveTo>
                <a:lnTo>
                  <a:pt x="449428" y="0"/>
                </a:lnTo>
                <a:lnTo>
                  <a:pt x="449428" y="449428"/>
                </a:lnTo>
                <a:lnTo>
                  <a:pt x="0" y="4494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819950" y="1819256"/>
            <a:ext cx="16648100" cy="7818558"/>
          </a:xfrm>
          <a:custGeom>
            <a:avLst/>
            <a:gdLst/>
            <a:ahLst/>
            <a:cxnLst/>
            <a:rect l="l" t="t" r="r" b="b"/>
            <a:pathLst>
              <a:path w="16648100" h="7818558">
                <a:moveTo>
                  <a:pt x="0" y="0"/>
                </a:moveTo>
                <a:lnTo>
                  <a:pt x="16648100" y="0"/>
                </a:lnTo>
                <a:lnTo>
                  <a:pt x="16648100" y="7818558"/>
                </a:lnTo>
                <a:lnTo>
                  <a:pt x="0" y="78185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1253414" y="2122741"/>
            <a:ext cx="15367845" cy="7877870"/>
          </a:xfrm>
          <a:prstGeom prst="rect">
            <a:avLst/>
          </a:prstGeom>
        </p:spPr>
        <p:txBody>
          <a:bodyPr lIns="0" tIns="0" rIns="0" bIns="0" rtlCol="0" anchor="t">
            <a:spAutoFit/>
          </a:bodyPr>
          <a:lstStyle/>
          <a:p>
            <a:pPr algn="ctr">
              <a:lnSpc>
                <a:spcPts val="3900"/>
              </a:lnSpc>
            </a:pPr>
            <a:r>
              <a:rPr lang="en-US" sz="2786">
                <a:solidFill>
                  <a:srgbClr val="FFFFFF"/>
                </a:solidFill>
                <a:latin typeface="Montserrat"/>
                <a:ea typeface="Montserrat"/>
                <a:cs typeface="Montserrat"/>
                <a:sym typeface="Montserrat"/>
              </a:rPr>
              <a:t>The primary objective of this project is to develop a robust, efficient, and secure banking simulation system using the C Programming Language. Unlike simple runtime calculators, this system is designed to demonstrate data persistence, meaning user accounts and transaction history are stored permanently in a file database, simulating real-world banking software infrastructure</a:t>
            </a:r>
          </a:p>
          <a:p>
            <a:pPr algn="ctr">
              <a:lnSpc>
                <a:spcPts val="3900"/>
              </a:lnSpc>
            </a:pPr>
            <a:endParaRPr lang="en-US" sz="2786">
              <a:solidFill>
                <a:srgbClr val="FFFFFF"/>
              </a:solidFill>
              <a:latin typeface="Montserrat"/>
              <a:ea typeface="Montserrat"/>
              <a:cs typeface="Montserrat"/>
              <a:sym typeface="Montserrat"/>
            </a:endParaRPr>
          </a:p>
          <a:p>
            <a:pPr algn="ctr">
              <a:lnSpc>
                <a:spcPts val="3900"/>
              </a:lnSpc>
            </a:pPr>
            <a:r>
              <a:rPr lang="en-US" sz="2786">
                <a:solidFill>
                  <a:srgbClr val="FFFFFF"/>
                </a:solidFill>
                <a:latin typeface="Montserrat"/>
                <a:ea typeface="Montserrat"/>
                <a:cs typeface="Montserrat"/>
                <a:sym typeface="Montserrat"/>
              </a:rPr>
              <a:t>The system is divided into three core modules:</a:t>
            </a:r>
          </a:p>
          <a:p>
            <a:pPr algn="ctr">
              <a:lnSpc>
                <a:spcPts val="3900"/>
              </a:lnSpc>
            </a:pPr>
            <a:r>
              <a:rPr lang="en-US" sz="2786">
                <a:solidFill>
                  <a:srgbClr val="FFFFFF"/>
                </a:solidFill>
                <a:latin typeface="Montserrat"/>
                <a:ea typeface="Montserrat"/>
                <a:cs typeface="Montserrat"/>
                <a:sym typeface="Montserrat"/>
              </a:rPr>
              <a:t>Module A: Authentication &amp; Security</a:t>
            </a:r>
          </a:p>
          <a:p>
            <a:pPr algn="ctr">
              <a:lnSpc>
                <a:spcPts val="3900"/>
              </a:lnSpc>
            </a:pPr>
            <a:r>
              <a:rPr lang="en-US" sz="2786">
                <a:solidFill>
                  <a:srgbClr val="FFFFFF"/>
                </a:solidFill>
                <a:latin typeface="Montserrat"/>
                <a:ea typeface="Montserrat"/>
                <a:cs typeface="Montserrat"/>
                <a:sym typeface="Montserrat"/>
              </a:rPr>
              <a:t>-Input and check CustomerID and Password</a:t>
            </a:r>
          </a:p>
          <a:p>
            <a:pPr algn="ctr">
              <a:lnSpc>
                <a:spcPts val="3900"/>
              </a:lnSpc>
            </a:pPr>
            <a:endParaRPr lang="en-US" sz="2786">
              <a:solidFill>
                <a:srgbClr val="FFFFFF"/>
              </a:solidFill>
              <a:latin typeface="Montserrat"/>
              <a:ea typeface="Montserrat"/>
              <a:cs typeface="Montserrat"/>
              <a:sym typeface="Montserrat"/>
            </a:endParaRPr>
          </a:p>
          <a:p>
            <a:pPr algn="ctr">
              <a:lnSpc>
                <a:spcPts val="3900"/>
              </a:lnSpc>
            </a:pPr>
            <a:r>
              <a:rPr lang="en-US" sz="2786">
                <a:solidFill>
                  <a:srgbClr val="FFFFFF"/>
                </a:solidFill>
                <a:latin typeface="Montserrat"/>
                <a:ea typeface="Montserrat"/>
                <a:cs typeface="Montserrat"/>
                <a:sym typeface="Montserrat"/>
              </a:rPr>
              <a:t>Module B: Account Management (Write Operations)</a:t>
            </a:r>
          </a:p>
          <a:p>
            <a:pPr algn="ctr">
              <a:lnSpc>
                <a:spcPts val="3900"/>
              </a:lnSpc>
            </a:pPr>
            <a:r>
              <a:rPr lang="en-US" sz="2786">
                <a:solidFill>
                  <a:srgbClr val="FFFFFF"/>
                </a:solidFill>
                <a:latin typeface="Montserrat"/>
                <a:ea typeface="Montserrat"/>
                <a:cs typeface="Montserrat"/>
                <a:sym typeface="Montserrat"/>
              </a:rPr>
              <a:t>-Opening New Accounts | Accepting User Details</a:t>
            </a:r>
          </a:p>
          <a:p>
            <a:pPr algn="ctr">
              <a:lnSpc>
                <a:spcPts val="3900"/>
              </a:lnSpc>
            </a:pPr>
            <a:endParaRPr lang="en-US" sz="2786">
              <a:solidFill>
                <a:srgbClr val="FFFFFF"/>
              </a:solidFill>
              <a:latin typeface="Montserrat"/>
              <a:ea typeface="Montserrat"/>
              <a:cs typeface="Montserrat"/>
              <a:sym typeface="Montserrat"/>
            </a:endParaRPr>
          </a:p>
          <a:p>
            <a:pPr algn="ctr">
              <a:lnSpc>
                <a:spcPts val="3900"/>
              </a:lnSpc>
            </a:pPr>
            <a:r>
              <a:rPr lang="en-US" sz="2786">
                <a:solidFill>
                  <a:srgbClr val="FFFFFF"/>
                </a:solidFill>
                <a:latin typeface="Montserrat"/>
                <a:ea typeface="Montserrat"/>
                <a:cs typeface="Montserrat"/>
                <a:sym typeface="Montserrat"/>
              </a:rPr>
              <a:t>Module C: Transaction Engine (Read/Modify/Write)</a:t>
            </a:r>
          </a:p>
          <a:p>
            <a:pPr algn="ctr">
              <a:lnSpc>
                <a:spcPts val="3900"/>
              </a:lnSpc>
            </a:pPr>
            <a:r>
              <a:rPr lang="en-US" sz="2786">
                <a:solidFill>
                  <a:srgbClr val="FFFFFF"/>
                </a:solidFill>
                <a:latin typeface="Montserrat"/>
                <a:ea typeface="Montserrat"/>
                <a:cs typeface="Montserrat"/>
                <a:sym typeface="Montserrat"/>
              </a:rPr>
              <a:t>-Features Like: Deposit and Withdraw</a:t>
            </a:r>
          </a:p>
          <a:p>
            <a:pPr algn="ctr">
              <a:lnSpc>
                <a:spcPts val="3900"/>
              </a:lnSpc>
            </a:pPr>
            <a:endParaRPr lang="en-US" sz="2786">
              <a:solidFill>
                <a:srgbClr val="FFFFFF"/>
              </a:solidFill>
              <a:latin typeface="Montserrat"/>
              <a:ea typeface="Montserrat"/>
              <a:cs typeface="Montserrat"/>
              <a:sym typeface="Montserrat"/>
            </a:endParaRPr>
          </a:p>
        </p:txBody>
      </p:sp>
      <p:sp>
        <p:nvSpPr>
          <p:cNvPr id="6" name="TextBox 6"/>
          <p:cNvSpPr txBox="1"/>
          <p:nvPr/>
        </p:nvSpPr>
        <p:spPr>
          <a:xfrm>
            <a:off x="803986" y="593893"/>
            <a:ext cx="16648100" cy="2040636"/>
          </a:xfrm>
          <a:prstGeom prst="rect">
            <a:avLst/>
          </a:prstGeom>
        </p:spPr>
        <p:txBody>
          <a:bodyPr lIns="0" tIns="0" rIns="0" bIns="0" rtlCol="0" anchor="t">
            <a:spAutoFit/>
          </a:bodyPr>
          <a:lstStyle/>
          <a:p>
            <a:pPr algn="ctr">
              <a:lnSpc>
                <a:spcPts val="7750"/>
              </a:lnSpc>
            </a:pPr>
            <a:r>
              <a:rPr lang="en-US" sz="7598" b="1" spc="-340">
                <a:solidFill>
                  <a:srgbClr val="FFFFFF"/>
                </a:solidFill>
                <a:latin typeface="Telegraf Bold"/>
                <a:ea typeface="Telegraf Bold"/>
                <a:cs typeface="Telegraf Bold"/>
                <a:sym typeface="Telegraf Bold"/>
              </a:rPr>
              <a:t>Project Overview</a:t>
            </a:r>
          </a:p>
          <a:p>
            <a:pPr algn="ctr">
              <a:lnSpc>
                <a:spcPts val="7750"/>
              </a:lnSpc>
            </a:pPr>
            <a:endParaRPr lang="en-US" sz="7598" b="1" spc="-340">
              <a:solidFill>
                <a:srgbClr val="FFFFFF"/>
              </a:solidFill>
              <a:latin typeface="Telegraf Bold"/>
              <a:ea typeface="Telegraf Bold"/>
              <a:cs typeface="Telegraf Bold"/>
              <a:sym typeface="Telegraf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803986" y="803986"/>
            <a:ext cx="449428" cy="449428"/>
          </a:xfrm>
          <a:custGeom>
            <a:avLst/>
            <a:gdLst/>
            <a:ahLst/>
            <a:cxnLst/>
            <a:rect l="l" t="t" r="r" b="b"/>
            <a:pathLst>
              <a:path w="449428" h="449428">
                <a:moveTo>
                  <a:pt x="0" y="0"/>
                </a:moveTo>
                <a:lnTo>
                  <a:pt x="449428" y="0"/>
                </a:lnTo>
                <a:lnTo>
                  <a:pt x="449428" y="449428"/>
                </a:lnTo>
                <a:lnTo>
                  <a:pt x="0" y="4494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6700923" y="1733121"/>
            <a:ext cx="10876417" cy="7721108"/>
          </a:xfrm>
          <a:custGeom>
            <a:avLst/>
            <a:gdLst/>
            <a:ahLst/>
            <a:cxnLst/>
            <a:rect l="l" t="t" r="r" b="b"/>
            <a:pathLst>
              <a:path w="10876417" h="7721108">
                <a:moveTo>
                  <a:pt x="0" y="0"/>
                </a:moveTo>
                <a:lnTo>
                  <a:pt x="10876417" y="0"/>
                </a:lnTo>
                <a:lnTo>
                  <a:pt x="10876417" y="7721108"/>
                </a:lnTo>
                <a:lnTo>
                  <a:pt x="0" y="77211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803986" y="1733121"/>
            <a:ext cx="5264887" cy="7721108"/>
          </a:xfrm>
          <a:custGeom>
            <a:avLst/>
            <a:gdLst/>
            <a:ahLst/>
            <a:cxnLst/>
            <a:rect l="l" t="t" r="r" b="b"/>
            <a:pathLst>
              <a:path w="5264887" h="7721108">
                <a:moveTo>
                  <a:pt x="0" y="0"/>
                </a:moveTo>
                <a:lnTo>
                  <a:pt x="5264887" y="0"/>
                </a:lnTo>
                <a:lnTo>
                  <a:pt x="5264887" y="7721108"/>
                </a:lnTo>
                <a:lnTo>
                  <a:pt x="0" y="77211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1363847" y="2353389"/>
            <a:ext cx="4450051" cy="946671"/>
          </a:xfrm>
          <a:prstGeom prst="rect">
            <a:avLst/>
          </a:prstGeom>
        </p:spPr>
        <p:txBody>
          <a:bodyPr lIns="0" tIns="0" rIns="0" bIns="0" rtlCol="0" anchor="t">
            <a:spAutoFit/>
          </a:bodyPr>
          <a:lstStyle/>
          <a:p>
            <a:pPr algn="just">
              <a:lnSpc>
                <a:spcPts val="7146"/>
              </a:lnSpc>
            </a:pPr>
            <a:r>
              <a:rPr lang="en-US" sz="5103" b="1" spc="-223">
                <a:solidFill>
                  <a:srgbClr val="FFFFFF"/>
                </a:solidFill>
                <a:latin typeface="Open Sauce Bold"/>
                <a:ea typeface="Open Sauce Bold"/>
                <a:cs typeface="Open Sauce Bold"/>
                <a:sym typeface="Open Sauce Bold"/>
              </a:rPr>
              <a:t>Key Features</a:t>
            </a:r>
          </a:p>
        </p:txBody>
      </p:sp>
      <p:sp>
        <p:nvSpPr>
          <p:cNvPr id="6" name="TextBox 6"/>
          <p:cNvSpPr txBox="1"/>
          <p:nvPr/>
        </p:nvSpPr>
        <p:spPr>
          <a:xfrm>
            <a:off x="7003180" y="2309317"/>
            <a:ext cx="10256120" cy="1209237"/>
          </a:xfrm>
          <a:prstGeom prst="rect">
            <a:avLst/>
          </a:prstGeom>
        </p:spPr>
        <p:txBody>
          <a:bodyPr lIns="0" tIns="0" rIns="0" bIns="0" rtlCol="0" anchor="t">
            <a:spAutoFit/>
          </a:bodyPr>
          <a:lstStyle/>
          <a:p>
            <a:pPr algn="l">
              <a:lnSpc>
                <a:spcPts val="8994"/>
              </a:lnSpc>
            </a:pPr>
            <a:r>
              <a:rPr lang="en-US" sz="8817" b="1" spc="-395">
                <a:solidFill>
                  <a:srgbClr val="FFFFFF"/>
                </a:solidFill>
                <a:latin typeface="Telegraf Bold"/>
                <a:ea typeface="Telegraf Bold"/>
                <a:cs typeface="Telegraf Bold"/>
                <a:sym typeface="Telegraf Bold"/>
              </a:rPr>
              <a:t>Why C Language?</a:t>
            </a:r>
          </a:p>
        </p:txBody>
      </p:sp>
      <p:sp>
        <p:nvSpPr>
          <p:cNvPr id="7" name="TextBox 7"/>
          <p:cNvSpPr txBox="1"/>
          <p:nvPr/>
        </p:nvSpPr>
        <p:spPr>
          <a:xfrm>
            <a:off x="6700923" y="3636721"/>
            <a:ext cx="10876417" cy="4247512"/>
          </a:xfrm>
          <a:prstGeom prst="rect">
            <a:avLst/>
          </a:prstGeom>
        </p:spPr>
        <p:txBody>
          <a:bodyPr lIns="0" tIns="0" rIns="0" bIns="0" rtlCol="0" anchor="t">
            <a:spAutoFit/>
          </a:bodyPr>
          <a:lstStyle/>
          <a:p>
            <a:pPr algn="ctr">
              <a:lnSpc>
                <a:spcPts val="4759"/>
              </a:lnSpc>
            </a:pPr>
            <a:r>
              <a:rPr lang="en-US" sz="3399">
                <a:solidFill>
                  <a:srgbClr val="FFFFFF"/>
                </a:solidFill>
                <a:latin typeface="Canva Sans"/>
                <a:ea typeface="Canva Sans"/>
                <a:cs typeface="Canva Sans"/>
                <a:sym typeface="Canva Sans"/>
              </a:rPr>
              <a:t>We Chose C For it is Standard for systems that require high performance and reliability.</a:t>
            </a:r>
          </a:p>
          <a:p>
            <a:pPr algn="ctr">
              <a:lnSpc>
                <a:spcPts val="4759"/>
              </a:lnSpc>
            </a:pPr>
            <a:r>
              <a:rPr lang="en-US" sz="3399">
                <a:solidFill>
                  <a:srgbClr val="FFFFFF"/>
                </a:solidFill>
                <a:latin typeface="Canva Sans"/>
                <a:ea typeface="Canva Sans"/>
                <a:cs typeface="Canva Sans"/>
                <a:sym typeface="Canva Sans"/>
              </a:rPr>
              <a:t>It runs very close to the hardware, which means our </a:t>
            </a:r>
          </a:p>
          <a:p>
            <a:pPr algn="ctr">
              <a:lnSpc>
                <a:spcPts val="4759"/>
              </a:lnSpc>
            </a:pPr>
            <a:r>
              <a:rPr lang="en-US" sz="3399">
                <a:solidFill>
                  <a:srgbClr val="FFFFFF"/>
                </a:solidFill>
                <a:latin typeface="Canva Sans"/>
                <a:ea typeface="Canva Sans"/>
                <a:cs typeface="Canva Sans"/>
                <a:sym typeface="Canva Sans"/>
              </a:rPr>
              <a:t>program executes calculations and searches almost instantly, without the lag of heavier languages like Python or Java</a:t>
            </a:r>
          </a:p>
          <a:p>
            <a:pPr algn="ctr">
              <a:lnSpc>
                <a:spcPts val="4759"/>
              </a:lnSpc>
            </a:pPr>
            <a:endParaRPr lang="en-US" sz="3399">
              <a:solidFill>
                <a:srgbClr val="FFFFFF"/>
              </a:solidFill>
              <a:latin typeface="Canva Sans"/>
              <a:ea typeface="Canva Sans"/>
              <a:cs typeface="Canva Sans"/>
              <a:sym typeface="Canva Sans"/>
            </a:endParaRPr>
          </a:p>
        </p:txBody>
      </p:sp>
      <p:sp>
        <p:nvSpPr>
          <p:cNvPr id="8" name="TextBox 8"/>
          <p:cNvSpPr txBox="1"/>
          <p:nvPr/>
        </p:nvSpPr>
        <p:spPr>
          <a:xfrm>
            <a:off x="803986" y="3309004"/>
            <a:ext cx="5264887" cy="4323712"/>
          </a:xfrm>
          <a:prstGeom prst="rect">
            <a:avLst/>
          </a:prstGeom>
        </p:spPr>
        <p:txBody>
          <a:bodyPr lIns="0" tIns="0" rIns="0" bIns="0" rtlCol="0" anchor="t">
            <a:spAutoFit/>
          </a:bodyPr>
          <a:lstStyle/>
          <a:p>
            <a:pPr algn="ctr">
              <a:lnSpc>
                <a:spcPts val="4759"/>
              </a:lnSpc>
            </a:pPr>
            <a:r>
              <a:rPr lang="en-US" sz="3399">
                <a:solidFill>
                  <a:srgbClr val="FFFFFF"/>
                </a:solidFill>
                <a:latin typeface="Poppins"/>
                <a:ea typeface="Poppins"/>
                <a:cs typeface="Poppins"/>
                <a:sym typeface="Poppins"/>
              </a:rPr>
              <a:t>• Persistent Data Storage</a:t>
            </a:r>
          </a:p>
          <a:p>
            <a:pPr algn="ctr">
              <a:lnSpc>
                <a:spcPts val="4759"/>
              </a:lnSpc>
            </a:pPr>
            <a:r>
              <a:rPr lang="en-US" sz="3399">
                <a:solidFill>
                  <a:srgbClr val="FFFFFF"/>
                </a:solidFill>
                <a:latin typeface="Poppins"/>
                <a:ea typeface="Poppins"/>
                <a:cs typeface="Poppins"/>
                <a:sym typeface="Poppins"/>
              </a:rPr>
              <a:t>• Secure Authentication</a:t>
            </a:r>
          </a:p>
          <a:p>
            <a:pPr algn="ctr">
              <a:lnSpc>
                <a:spcPts val="4759"/>
              </a:lnSpc>
            </a:pPr>
            <a:r>
              <a:rPr lang="en-US" sz="3399">
                <a:solidFill>
                  <a:srgbClr val="FFFFFF"/>
                </a:solidFill>
                <a:latin typeface="Poppins"/>
                <a:ea typeface="Poppins"/>
                <a:cs typeface="Poppins"/>
                <a:sym typeface="Poppins"/>
              </a:rPr>
              <a:t>• Real-Time Transaction Processing</a:t>
            </a:r>
          </a:p>
          <a:p>
            <a:pPr algn="ctr">
              <a:lnSpc>
                <a:spcPts val="4759"/>
              </a:lnSpc>
            </a:pPr>
            <a:r>
              <a:rPr lang="en-US" sz="3399">
                <a:solidFill>
                  <a:srgbClr val="FFFFFF"/>
                </a:solidFill>
                <a:latin typeface="Poppins"/>
                <a:ea typeface="Poppins"/>
                <a:cs typeface="Poppins"/>
                <a:sym typeface="Poppins"/>
              </a:rPr>
              <a:t>• Input Sanitization and Validation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803986" y="803986"/>
            <a:ext cx="449428" cy="449428"/>
          </a:xfrm>
          <a:custGeom>
            <a:avLst/>
            <a:gdLst/>
            <a:ahLst/>
            <a:cxnLst/>
            <a:rect l="l" t="t" r="r" b="b"/>
            <a:pathLst>
              <a:path w="449428" h="449428">
                <a:moveTo>
                  <a:pt x="0" y="0"/>
                </a:moveTo>
                <a:lnTo>
                  <a:pt x="449428" y="0"/>
                </a:lnTo>
                <a:lnTo>
                  <a:pt x="449428" y="449428"/>
                </a:lnTo>
                <a:lnTo>
                  <a:pt x="0" y="4494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278006" y="1000258"/>
            <a:ext cx="17481071" cy="8825284"/>
          </a:xfrm>
          <a:custGeom>
            <a:avLst/>
            <a:gdLst/>
            <a:ahLst/>
            <a:cxnLst/>
            <a:rect l="l" t="t" r="r" b="b"/>
            <a:pathLst>
              <a:path w="17481071" h="8825284">
                <a:moveTo>
                  <a:pt x="0" y="0"/>
                </a:moveTo>
                <a:lnTo>
                  <a:pt x="17481071" y="0"/>
                </a:lnTo>
                <a:lnTo>
                  <a:pt x="17481071" y="8825284"/>
                </a:lnTo>
                <a:lnTo>
                  <a:pt x="0" y="88252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a:off x="803986" y="2866654"/>
            <a:ext cx="6973062" cy="2777404"/>
            <a:chOff x="0" y="0"/>
            <a:chExt cx="9297416" cy="3703206"/>
          </a:xfrm>
        </p:grpSpPr>
        <p:sp>
          <p:nvSpPr>
            <p:cNvPr id="5" name="Freeform 5"/>
            <p:cNvSpPr/>
            <p:nvPr/>
          </p:nvSpPr>
          <p:spPr>
            <a:xfrm>
              <a:off x="0" y="0"/>
              <a:ext cx="9297416" cy="3703193"/>
            </a:xfrm>
            <a:custGeom>
              <a:avLst/>
              <a:gdLst/>
              <a:ahLst/>
              <a:cxnLst/>
              <a:rect l="l" t="t" r="r" b="b"/>
              <a:pathLst>
                <a:path w="9297416" h="3703193">
                  <a:moveTo>
                    <a:pt x="0" y="0"/>
                  </a:moveTo>
                  <a:lnTo>
                    <a:pt x="9297416" y="0"/>
                  </a:lnTo>
                  <a:lnTo>
                    <a:pt x="9297416" y="3703193"/>
                  </a:lnTo>
                  <a:lnTo>
                    <a:pt x="0" y="3703193"/>
                  </a:lnTo>
                  <a:lnTo>
                    <a:pt x="0" y="0"/>
                  </a:lnTo>
                  <a:close/>
                </a:path>
              </a:pathLst>
            </a:custGeom>
            <a:blipFill>
              <a:blip r:embed="rId4"/>
              <a:stretch>
                <a:fillRect/>
              </a:stretch>
            </a:blipFill>
          </p:spPr>
          <p:txBody>
            <a:bodyPr/>
            <a:lstStyle/>
            <a:p>
              <a:endParaRPr lang="en-IN"/>
            </a:p>
          </p:txBody>
        </p:sp>
      </p:grpSp>
      <p:sp>
        <p:nvSpPr>
          <p:cNvPr id="6" name="TextBox 6"/>
          <p:cNvSpPr txBox="1"/>
          <p:nvPr/>
        </p:nvSpPr>
        <p:spPr>
          <a:xfrm>
            <a:off x="606428" y="1380687"/>
            <a:ext cx="7728823" cy="1185510"/>
          </a:xfrm>
          <a:prstGeom prst="rect">
            <a:avLst/>
          </a:prstGeom>
        </p:spPr>
        <p:txBody>
          <a:bodyPr lIns="0" tIns="0" rIns="0" bIns="0" rtlCol="0" anchor="t">
            <a:spAutoFit/>
          </a:bodyPr>
          <a:lstStyle/>
          <a:p>
            <a:pPr algn="just">
              <a:lnSpc>
                <a:spcPts val="8675"/>
              </a:lnSpc>
            </a:pPr>
            <a:r>
              <a:rPr lang="en-US" sz="6197" spc="-272">
                <a:solidFill>
                  <a:srgbClr val="FFFFFF"/>
                </a:solidFill>
                <a:latin typeface="Open Sauce"/>
                <a:ea typeface="Open Sauce"/>
                <a:cs typeface="Open Sauce"/>
                <a:sym typeface="Open Sauce"/>
              </a:rPr>
              <a:t>Core Data Strucuture</a:t>
            </a:r>
          </a:p>
        </p:txBody>
      </p:sp>
      <p:sp>
        <p:nvSpPr>
          <p:cNvPr id="7" name="TextBox 7"/>
          <p:cNvSpPr txBox="1"/>
          <p:nvPr/>
        </p:nvSpPr>
        <p:spPr>
          <a:xfrm>
            <a:off x="8499005" y="1292704"/>
            <a:ext cx="8177660" cy="1456725"/>
          </a:xfrm>
          <a:prstGeom prst="rect">
            <a:avLst/>
          </a:prstGeom>
        </p:spPr>
        <p:txBody>
          <a:bodyPr lIns="0" tIns="0" rIns="0" bIns="0" rtlCol="0" anchor="t">
            <a:spAutoFit/>
          </a:bodyPr>
          <a:lstStyle/>
          <a:p>
            <a:pPr algn="ctr">
              <a:lnSpc>
                <a:spcPts val="5555"/>
              </a:lnSpc>
            </a:pPr>
            <a:r>
              <a:rPr lang="en-US" sz="3968" b="1">
                <a:solidFill>
                  <a:srgbClr val="FFFFFF"/>
                </a:solidFill>
                <a:latin typeface="Canva Sans Bold"/>
                <a:ea typeface="Canva Sans Bold"/>
                <a:cs typeface="Canva Sans Bold"/>
                <a:sym typeface="Canva Sans Bold"/>
              </a:rPr>
              <a:t>Important Functions and Header Files Used</a:t>
            </a:r>
          </a:p>
        </p:txBody>
      </p:sp>
      <p:sp>
        <p:nvSpPr>
          <p:cNvPr id="8" name="TextBox 8"/>
          <p:cNvSpPr txBox="1"/>
          <p:nvPr/>
        </p:nvSpPr>
        <p:spPr>
          <a:xfrm>
            <a:off x="8858964" y="2823372"/>
            <a:ext cx="7175573" cy="980303"/>
          </a:xfrm>
          <a:prstGeom prst="rect">
            <a:avLst/>
          </a:prstGeom>
        </p:spPr>
        <p:txBody>
          <a:bodyPr lIns="0" tIns="0" rIns="0" bIns="0" rtlCol="0" anchor="t">
            <a:spAutoFit/>
          </a:bodyPr>
          <a:lstStyle/>
          <a:p>
            <a:pPr algn="ctr">
              <a:lnSpc>
                <a:spcPts val="3716"/>
              </a:lnSpc>
            </a:pPr>
            <a:r>
              <a:rPr lang="en-US" sz="2654">
                <a:solidFill>
                  <a:srgbClr val="FFFFFF"/>
                </a:solidFill>
                <a:latin typeface="Oswald"/>
                <a:ea typeface="Oswald"/>
                <a:cs typeface="Oswald"/>
                <a:sym typeface="Oswald"/>
              </a:rPr>
              <a:t>scanf(“%[^ \n]s”) - Used to Handle spaces in String </a:t>
            </a:r>
          </a:p>
          <a:p>
            <a:pPr algn="ctr">
              <a:lnSpc>
                <a:spcPts val="3716"/>
              </a:lnSpc>
            </a:pPr>
            <a:r>
              <a:rPr lang="en-US" sz="2654">
                <a:solidFill>
                  <a:srgbClr val="FFFFFF"/>
                </a:solidFill>
                <a:latin typeface="Oswald"/>
                <a:ea typeface="Oswald"/>
                <a:cs typeface="Oswald"/>
                <a:sym typeface="Oswald"/>
              </a:rPr>
              <a:t>[Input Sanitization]</a:t>
            </a:r>
          </a:p>
        </p:txBody>
      </p:sp>
      <p:sp>
        <p:nvSpPr>
          <p:cNvPr id="9" name="TextBox 9"/>
          <p:cNvSpPr txBox="1"/>
          <p:nvPr/>
        </p:nvSpPr>
        <p:spPr>
          <a:xfrm>
            <a:off x="9018537" y="3741772"/>
            <a:ext cx="7175573" cy="513578"/>
          </a:xfrm>
          <a:prstGeom prst="rect">
            <a:avLst/>
          </a:prstGeom>
        </p:spPr>
        <p:txBody>
          <a:bodyPr lIns="0" tIns="0" rIns="0" bIns="0" rtlCol="0" anchor="t">
            <a:spAutoFit/>
          </a:bodyPr>
          <a:lstStyle/>
          <a:p>
            <a:pPr algn="ctr">
              <a:lnSpc>
                <a:spcPts val="3716"/>
              </a:lnSpc>
            </a:pPr>
            <a:r>
              <a:rPr lang="en-US" sz="2654">
                <a:solidFill>
                  <a:srgbClr val="FFFFFF"/>
                </a:solidFill>
                <a:latin typeface="Oswald"/>
                <a:ea typeface="Oswald"/>
                <a:cs typeface="Oswald"/>
                <a:sym typeface="Oswald"/>
              </a:rPr>
              <a:t>strcmp() - Used to Match Passwords (String Matching)</a:t>
            </a:r>
          </a:p>
        </p:txBody>
      </p:sp>
      <p:sp>
        <p:nvSpPr>
          <p:cNvPr id="10" name="TextBox 10"/>
          <p:cNvSpPr txBox="1"/>
          <p:nvPr/>
        </p:nvSpPr>
        <p:spPr>
          <a:xfrm>
            <a:off x="1538183" y="6802126"/>
            <a:ext cx="13504945" cy="1300162"/>
          </a:xfrm>
          <a:prstGeom prst="rect">
            <a:avLst/>
          </a:prstGeom>
        </p:spPr>
        <p:txBody>
          <a:bodyPr lIns="0" tIns="0" rIns="0" bIns="0" rtlCol="0" anchor="t">
            <a:spAutoFit/>
          </a:bodyPr>
          <a:lstStyle/>
          <a:p>
            <a:pPr algn="ctr">
              <a:lnSpc>
                <a:spcPts val="3411"/>
              </a:lnSpc>
            </a:pPr>
            <a:r>
              <a:rPr lang="en-US" sz="2436">
                <a:solidFill>
                  <a:srgbClr val="FFFFFF"/>
                </a:solidFill>
                <a:latin typeface="Oswald"/>
                <a:ea typeface="Oswald"/>
                <a:cs typeface="Oswald"/>
                <a:sym typeface="Oswald"/>
              </a:rPr>
              <a:t>We prioritized data integrity. For example, standard scanf breaks when you type a full name like 'Aditya Kumar'. We implemented specific format specifiers to handle multi-word strings. For security, we strictly use strcmp for password verification because direct operators (==) don't work on strings in C."</a:t>
            </a:r>
          </a:p>
        </p:txBody>
      </p:sp>
      <p:sp>
        <p:nvSpPr>
          <p:cNvPr id="11" name="TextBox 11"/>
          <p:cNvSpPr txBox="1"/>
          <p:nvPr/>
        </p:nvSpPr>
        <p:spPr>
          <a:xfrm>
            <a:off x="9144000" y="4331560"/>
            <a:ext cx="6744243" cy="980189"/>
          </a:xfrm>
          <a:prstGeom prst="rect">
            <a:avLst/>
          </a:prstGeom>
        </p:spPr>
        <p:txBody>
          <a:bodyPr lIns="0" tIns="0" rIns="0" bIns="0" rtlCol="0" anchor="t">
            <a:spAutoFit/>
          </a:bodyPr>
          <a:lstStyle/>
          <a:p>
            <a:pPr algn="ctr">
              <a:lnSpc>
                <a:spcPts val="3724"/>
              </a:lnSpc>
            </a:pPr>
            <a:r>
              <a:rPr lang="en-US" sz="2660">
                <a:solidFill>
                  <a:srgbClr val="FFFFFF"/>
                </a:solidFill>
                <a:latin typeface="Oswald"/>
                <a:ea typeface="Oswald"/>
                <a:cs typeface="Oswald"/>
                <a:sym typeface="Oswald"/>
              </a:rPr>
              <a:t>&lt;String.h&gt; - to use the string comparison method</a:t>
            </a:r>
          </a:p>
          <a:p>
            <a:pPr algn="ctr">
              <a:lnSpc>
                <a:spcPts val="3724"/>
              </a:lnSpc>
            </a:pPr>
            <a:r>
              <a:rPr lang="en-US" sz="2660">
                <a:solidFill>
                  <a:srgbClr val="FFFFFF"/>
                </a:solidFill>
                <a:latin typeface="Oswald"/>
                <a:ea typeface="Oswald"/>
                <a:cs typeface="Oswald"/>
                <a:sym typeface="Oswald"/>
              </a:rPr>
              <a:t>&lt;stdlib.h&gt; - to use the exit() method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803986" y="803986"/>
            <a:ext cx="449428" cy="449428"/>
          </a:xfrm>
          <a:custGeom>
            <a:avLst/>
            <a:gdLst/>
            <a:ahLst/>
            <a:cxnLst/>
            <a:rect l="l" t="t" r="r" b="b"/>
            <a:pathLst>
              <a:path w="449428" h="449428">
                <a:moveTo>
                  <a:pt x="0" y="0"/>
                </a:moveTo>
                <a:lnTo>
                  <a:pt x="449428" y="0"/>
                </a:lnTo>
                <a:lnTo>
                  <a:pt x="449428" y="449428"/>
                </a:lnTo>
                <a:lnTo>
                  <a:pt x="0" y="4494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 name="Group 3"/>
          <p:cNvGrpSpPr/>
          <p:nvPr/>
        </p:nvGrpSpPr>
        <p:grpSpPr>
          <a:xfrm>
            <a:off x="803986" y="1897456"/>
            <a:ext cx="5693569" cy="7703830"/>
            <a:chOff x="0" y="0"/>
            <a:chExt cx="7591425" cy="10271773"/>
          </a:xfrm>
        </p:grpSpPr>
        <p:sp>
          <p:nvSpPr>
            <p:cNvPr id="4" name="Freeform 4"/>
            <p:cNvSpPr/>
            <p:nvPr/>
          </p:nvSpPr>
          <p:spPr>
            <a:xfrm>
              <a:off x="0" y="0"/>
              <a:ext cx="7591425" cy="10271760"/>
            </a:xfrm>
            <a:custGeom>
              <a:avLst/>
              <a:gdLst/>
              <a:ahLst/>
              <a:cxnLst/>
              <a:rect l="l" t="t" r="r" b="b"/>
              <a:pathLst>
                <a:path w="7591425" h="10271760">
                  <a:moveTo>
                    <a:pt x="0" y="0"/>
                  </a:moveTo>
                  <a:lnTo>
                    <a:pt x="7591425" y="0"/>
                  </a:lnTo>
                  <a:lnTo>
                    <a:pt x="7591425" y="10271760"/>
                  </a:lnTo>
                  <a:lnTo>
                    <a:pt x="0" y="10271760"/>
                  </a:lnTo>
                  <a:lnTo>
                    <a:pt x="0" y="0"/>
                  </a:lnTo>
                  <a:close/>
                </a:path>
              </a:pathLst>
            </a:custGeom>
            <a:blipFill>
              <a:blip r:embed="rId3"/>
              <a:stretch>
                <a:fillRect/>
              </a:stretch>
            </a:blipFill>
          </p:spPr>
          <p:txBody>
            <a:bodyPr/>
            <a:lstStyle/>
            <a:p>
              <a:endParaRPr lang="en-IN"/>
            </a:p>
          </p:txBody>
        </p:sp>
      </p:grpSp>
      <p:grpSp>
        <p:nvGrpSpPr>
          <p:cNvPr id="5" name="Group 5"/>
          <p:cNvGrpSpPr/>
          <p:nvPr/>
        </p:nvGrpSpPr>
        <p:grpSpPr>
          <a:xfrm>
            <a:off x="8696030" y="2972829"/>
            <a:ext cx="7603950" cy="6535922"/>
            <a:chOff x="0" y="0"/>
            <a:chExt cx="10138600" cy="8714562"/>
          </a:xfrm>
        </p:grpSpPr>
        <p:sp>
          <p:nvSpPr>
            <p:cNvPr id="6" name="Freeform 6"/>
            <p:cNvSpPr/>
            <p:nvPr/>
          </p:nvSpPr>
          <p:spPr>
            <a:xfrm>
              <a:off x="0" y="0"/>
              <a:ext cx="10138537" cy="8714613"/>
            </a:xfrm>
            <a:custGeom>
              <a:avLst/>
              <a:gdLst/>
              <a:ahLst/>
              <a:cxnLst/>
              <a:rect l="l" t="t" r="r" b="b"/>
              <a:pathLst>
                <a:path w="10138537" h="8714613">
                  <a:moveTo>
                    <a:pt x="0" y="0"/>
                  </a:moveTo>
                  <a:lnTo>
                    <a:pt x="10138537" y="0"/>
                  </a:lnTo>
                  <a:lnTo>
                    <a:pt x="10138537" y="8714613"/>
                  </a:lnTo>
                  <a:lnTo>
                    <a:pt x="0" y="8714613"/>
                  </a:lnTo>
                  <a:lnTo>
                    <a:pt x="0" y="0"/>
                  </a:lnTo>
                  <a:close/>
                </a:path>
              </a:pathLst>
            </a:custGeom>
            <a:blipFill>
              <a:blip r:embed="rId4"/>
              <a:stretch>
                <a:fillRect t="-695" b="-694"/>
              </a:stretch>
            </a:blipFill>
          </p:spPr>
          <p:txBody>
            <a:bodyPr/>
            <a:lstStyle/>
            <a:p>
              <a:endParaRPr lang="en-IN"/>
            </a:p>
          </p:txBody>
        </p:sp>
      </p:grpSp>
      <p:sp>
        <p:nvSpPr>
          <p:cNvPr id="7" name="TextBox 7"/>
          <p:cNvSpPr txBox="1"/>
          <p:nvPr/>
        </p:nvSpPr>
        <p:spPr>
          <a:xfrm>
            <a:off x="1988029" y="-598408"/>
            <a:ext cx="14311951" cy="1972770"/>
          </a:xfrm>
          <a:prstGeom prst="rect">
            <a:avLst/>
          </a:prstGeom>
        </p:spPr>
        <p:txBody>
          <a:bodyPr lIns="0" tIns="0" rIns="0" bIns="0" rtlCol="0" anchor="t">
            <a:spAutoFit/>
          </a:bodyPr>
          <a:lstStyle/>
          <a:p>
            <a:pPr algn="ctr">
              <a:lnSpc>
                <a:spcPts val="12880"/>
              </a:lnSpc>
            </a:pPr>
            <a:r>
              <a:rPr lang="en-US" sz="6000" b="1">
                <a:solidFill>
                  <a:srgbClr val="FFFFFF"/>
                </a:solidFill>
                <a:latin typeface="Canva Sans Bold"/>
                <a:ea typeface="Canva Sans Bold"/>
                <a:cs typeface="Canva Sans Bold"/>
                <a:sym typeface="Canva Sans Bold"/>
              </a:rPr>
              <a:t>Program UI and Interface</a:t>
            </a:r>
          </a:p>
        </p:txBody>
      </p:sp>
      <p:sp>
        <p:nvSpPr>
          <p:cNvPr id="8" name="TextBox 8"/>
          <p:cNvSpPr txBox="1"/>
          <p:nvPr/>
        </p:nvSpPr>
        <p:spPr>
          <a:xfrm>
            <a:off x="12192000" y="1698384"/>
            <a:ext cx="3937054" cy="982342"/>
          </a:xfrm>
          <a:prstGeom prst="rect">
            <a:avLst/>
          </a:prstGeom>
        </p:spPr>
        <p:txBody>
          <a:bodyPr lIns="0" tIns="0" rIns="0" bIns="0" rtlCol="0" anchor="t">
            <a:spAutoFit/>
          </a:bodyPr>
          <a:lstStyle/>
          <a:p>
            <a:pPr algn="ctr">
              <a:lnSpc>
                <a:spcPts val="7279"/>
              </a:lnSpc>
            </a:pPr>
            <a:r>
              <a:rPr lang="en-US" sz="5198" b="1">
                <a:solidFill>
                  <a:srgbClr val="FFFFFF"/>
                </a:solidFill>
                <a:latin typeface="Canva Sans Bold"/>
                <a:ea typeface="Canva Sans Bold"/>
                <a:cs typeface="Canva Sans Bold"/>
                <a:sym typeface="Canva Sans Bold"/>
              </a:rPr>
              <a:t>Functions: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803986" y="803986"/>
            <a:ext cx="449428" cy="449428"/>
          </a:xfrm>
          <a:custGeom>
            <a:avLst/>
            <a:gdLst/>
            <a:ahLst/>
            <a:cxnLst/>
            <a:rect l="l" t="t" r="r" b="b"/>
            <a:pathLst>
              <a:path w="449428" h="449428">
                <a:moveTo>
                  <a:pt x="0" y="0"/>
                </a:moveTo>
                <a:lnTo>
                  <a:pt x="449428" y="0"/>
                </a:lnTo>
                <a:lnTo>
                  <a:pt x="449428" y="449428"/>
                </a:lnTo>
                <a:lnTo>
                  <a:pt x="0" y="4494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865890" y="279959"/>
            <a:ext cx="14901415" cy="1378668"/>
          </a:xfrm>
          <a:custGeom>
            <a:avLst/>
            <a:gdLst/>
            <a:ahLst/>
            <a:cxnLst/>
            <a:rect l="l" t="t" r="r" b="b"/>
            <a:pathLst>
              <a:path w="14901415" h="1378668">
                <a:moveTo>
                  <a:pt x="0" y="0"/>
                </a:moveTo>
                <a:lnTo>
                  <a:pt x="14901415" y="0"/>
                </a:lnTo>
                <a:lnTo>
                  <a:pt x="14901415" y="1378667"/>
                </a:lnTo>
                <a:lnTo>
                  <a:pt x="0" y="13786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2186892" y="483556"/>
            <a:ext cx="14580403" cy="989962"/>
          </a:xfrm>
          <a:prstGeom prst="rect">
            <a:avLst/>
          </a:prstGeom>
        </p:spPr>
        <p:txBody>
          <a:bodyPr lIns="0" tIns="0" rIns="0" bIns="0" rtlCol="0" anchor="t">
            <a:spAutoFit/>
          </a:bodyPr>
          <a:lstStyle/>
          <a:p>
            <a:pPr algn="just">
              <a:lnSpc>
                <a:spcPts val="7384"/>
              </a:lnSpc>
            </a:pPr>
            <a:r>
              <a:rPr lang="en-US" sz="5274" spc="-231">
                <a:solidFill>
                  <a:srgbClr val="FFFFFF"/>
                </a:solidFill>
                <a:latin typeface="Open Sauce"/>
                <a:ea typeface="Open Sauce"/>
                <a:cs typeface="Open Sauce"/>
                <a:sym typeface="Open Sauce"/>
              </a:rPr>
              <a:t>How We Store The CustomerID and Passwords</a:t>
            </a:r>
          </a:p>
        </p:txBody>
      </p:sp>
      <p:sp>
        <p:nvSpPr>
          <p:cNvPr id="5" name="Freeform 5"/>
          <p:cNvSpPr/>
          <p:nvPr/>
        </p:nvSpPr>
        <p:spPr>
          <a:xfrm>
            <a:off x="443846" y="488928"/>
            <a:ext cx="1169699" cy="1169699"/>
          </a:xfrm>
          <a:custGeom>
            <a:avLst/>
            <a:gdLst/>
            <a:ahLst/>
            <a:cxnLst/>
            <a:rect l="l" t="t" r="r" b="b"/>
            <a:pathLst>
              <a:path w="1169699" h="1169699">
                <a:moveTo>
                  <a:pt x="0" y="0"/>
                </a:moveTo>
                <a:lnTo>
                  <a:pt x="1169699" y="0"/>
                </a:lnTo>
                <a:lnTo>
                  <a:pt x="1169699" y="1169698"/>
                </a:lnTo>
                <a:lnTo>
                  <a:pt x="0" y="11696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TextBox 6"/>
          <p:cNvSpPr txBox="1"/>
          <p:nvPr/>
        </p:nvSpPr>
        <p:spPr>
          <a:xfrm>
            <a:off x="-181108" y="1842564"/>
            <a:ext cx="18288000" cy="1342387"/>
          </a:xfrm>
          <a:prstGeom prst="rect">
            <a:avLst/>
          </a:prstGeom>
        </p:spPr>
        <p:txBody>
          <a:bodyPr lIns="0" tIns="0" rIns="0" bIns="0" rtlCol="0" anchor="t">
            <a:spAutoFit/>
          </a:bodyPr>
          <a:lstStyle/>
          <a:p>
            <a:pPr algn="ctr">
              <a:lnSpc>
                <a:spcPts val="4759"/>
              </a:lnSpc>
            </a:pPr>
            <a:r>
              <a:rPr lang="en-US" sz="3399">
                <a:solidFill>
                  <a:srgbClr val="FFFFFF"/>
                </a:solidFill>
                <a:latin typeface="Telegraf"/>
                <a:ea typeface="Telegraf"/>
                <a:cs typeface="Telegraf"/>
                <a:sym typeface="Telegraf"/>
              </a:rPr>
              <a:t>We Used DAT files Rather than conventional Text Files, which stores human-readable characters(</a:t>
            </a:r>
            <a:r>
              <a:rPr lang="en-US" sz="3399" b="1">
                <a:solidFill>
                  <a:srgbClr val="FFFFFF"/>
                </a:solidFill>
                <a:latin typeface="Telegraf Bold"/>
                <a:ea typeface="Telegraf Bold"/>
                <a:cs typeface="Telegraf Bold"/>
                <a:sym typeface="Telegraf Bold"/>
              </a:rPr>
              <a:t>ASCII</a:t>
            </a:r>
            <a:r>
              <a:rPr lang="en-US" sz="3399">
                <a:solidFill>
                  <a:srgbClr val="FFFFFF"/>
                </a:solidFill>
                <a:latin typeface="Telegraf"/>
                <a:ea typeface="Telegraf"/>
                <a:cs typeface="Telegraf"/>
                <a:sym typeface="Telegraf"/>
              </a:rPr>
              <a:t>), while a .dat file in our project stores </a:t>
            </a:r>
            <a:r>
              <a:rPr lang="en-US" sz="3399" b="1">
                <a:solidFill>
                  <a:srgbClr val="FFFFFF"/>
                </a:solidFill>
                <a:latin typeface="Telegraf Bold"/>
                <a:ea typeface="Telegraf Bold"/>
                <a:cs typeface="Telegraf Bold"/>
                <a:sym typeface="Telegraf Bold"/>
              </a:rPr>
              <a:t>Raw Binary Data </a:t>
            </a:r>
            <a:r>
              <a:rPr lang="en-US" sz="3399">
                <a:solidFill>
                  <a:srgbClr val="FFFFFF"/>
                </a:solidFill>
                <a:latin typeface="Telegraf"/>
                <a:ea typeface="Telegraf"/>
                <a:cs typeface="Telegraf"/>
                <a:sym typeface="Telegraf"/>
              </a:rPr>
              <a:t> </a:t>
            </a:r>
          </a:p>
        </p:txBody>
      </p:sp>
      <p:sp>
        <p:nvSpPr>
          <p:cNvPr id="7" name="Freeform 7"/>
          <p:cNvSpPr/>
          <p:nvPr/>
        </p:nvSpPr>
        <p:spPr>
          <a:xfrm>
            <a:off x="443846" y="4004100"/>
            <a:ext cx="584854" cy="584854"/>
          </a:xfrm>
          <a:custGeom>
            <a:avLst/>
            <a:gdLst/>
            <a:ahLst/>
            <a:cxnLst/>
            <a:rect l="l" t="t" r="r" b="b"/>
            <a:pathLst>
              <a:path w="584854" h="584854">
                <a:moveTo>
                  <a:pt x="0" y="0"/>
                </a:moveTo>
                <a:lnTo>
                  <a:pt x="584854" y="0"/>
                </a:lnTo>
                <a:lnTo>
                  <a:pt x="584854" y="584854"/>
                </a:lnTo>
                <a:lnTo>
                  <a:pt x="0" y="5848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8" name="TextBox 8"/>
          <p:cNvSpPr txBox="1"/>
          <p:nvPr/>
        </p:nvSpPr>
        <p:spPr>
          <a:xfrm>
            <a:off x="1253414" y="3710102"/>
            <a:ext cx="4613986" cy="874214"/>
          </a:xfrm>
          <a:prstGeom prst="rect">
            <a:avLst/>
          </a:prstGeom>
        </p:spPr>
        <p:txBody>
          <a:bodyPr wrap="square" lIns="0" tIns="0" rIns="0" bIns="0" rtlCol="0" anchor="t">
            <a:spAutoFit/>
          </a:bodyPr>
          <a:lstStyle/>
          <a:p>
            <a:pPr algn="ctr">
              <a:lnSpc>
                <a:spcPts val="7279"/>
              </a:lnSpc>
            </a:pPr>
            <a:r>
              <a:rPr lang="en-US" sz="5198" b="1" dirty="0">
                <a:solidFill>
                  <a:srgbClr val="FFFFFF"/>
                </a:solidFill>
                <a:latin typeface="Canva Sans Bold"/>
                <a:ea typeface="Canva Sans Bold"/>
                <a:cs typeface="Canva Sans Bold"/>
                <a:sym typeface="Canva Sans Bold"/>
              </a:rPr>
              <a:t>Why use it?</a:t>
            </a:r>
          </a:p>
        </p:txBody>
      </p:sp>
      <p:sp>
        <p:nvSpPr>
          <p:cNvPr id="9" name="TextBox 9"/>
          <p:cNvSpPr txBox="1"/>
          <p:nvPr/>
        </p:nvSpPr>
        <p:spPr>
          <a:xfrm>
            <a:off x="0" y="4762814"/>
            <a:ext cx="18106892" cy="4931407"/>
          </a:xfrm>
          <a:prstGeom prst="rect">
            <a:avLst/>
          </a:prstGeom>
        </p:spPr>
        <p:txBody>
          <a:bodyPr lIns="0" tIns="0" rIns="0" bIns="0" rtlCol="0" anchor="t">
            <a:spAutoFit/>
          </a:bodyPr>
          <a:lstStyle/>
          <a:p>
            <a:pPr marL="708659" lvl="2" indent="-236220" algn="ctr">
              <a:lnSpc>
                <a:spcPts val="4339"/>
              </a:lnSpc>
              <a:buFont typeface="Arial"/>
              <a:buChar char="⚬"/>
            </a:pPr>
            <a:r>
              <a:rPr lang="en-US" sz="3099" b="1">
                <a:solidFill>
                  <a:srgbClr val="FFFFFF"/>
                </a:solidFill>
                <a:latin typeface="Montserrat Bold"/>
                <a:ea typeface="Montserrat Bold"/>
                <a:cs typeface="Montserrat Bold"/>
                <a:sym typeface="Montserrat Bold"/>
              </a:rPr>
              <a:t>Security </a:t>
            </a:r>
            <a:r>
              <a:rPr lang="en-US" sz="3099">
                <a:solidFill>
                  <a:srgbClr val="FFFFFF"/>
                </a:solidFill>
                <a:latin typeface="Montserrat"/>
                <a:ea typeface="Montserrat"/>
                <a:cs typeface="Montserrat"/>
                <a:sym typeface="Montserrat"/>
              </a:rPr>
              <a:t>(</a:t>
            </a:r>
            <a:r>
              <a:rPr lang="en-US" sz="3099" b="1">
                <a:solidFill>
                  <a:srgbClr val="FFFFFF"/>
                </a:solidFill>
                <a:latin typeface="Montserrat Bold"/>
                <a:ea typeface="Montserrat Bold"/>
                <a:cs typeface="Montserrat Bold"/>
                <a:sym typeface="Montserrat Bold"/>
              </a:rPr>
              <a:t>Obscurity</a:t>
            </a:r>
            <a:r>
              <a:rPr lang="en-US" sz="3099">
                <a:solidFill>
                  <a:srgbClr val="FFFFFF"/>
                </a:solidFill>
                <a:latin typeface="Montserrat"/>
                <a:ea typeface="Montserrat"/>
                <a:cs typeface="Montserrat"/>
                <a:sym typeface="Montserrat"/>
              </a:rPr>
              <a:t>): If you open bank_database.dat in Notepad, you will see weird symbols and garbage text. This prevents a non-technical user from easily changing their balance from 500 to 500000.</a:t>
            </a:r>
          </a:p>
          <a:p>
            <a:pPr marL="708659" lvl="2" indent="-236220" algn="ctr">
              <a:lnSpc>
                <a:spcPts val="4339"/>
              </a:lnSpc>
              <a:buFont typeface="Arial"/>
              <a:buChar char="⚬"/>
            </a:pPr>
            <a:r>
              <a:rPr lang="en-US" sz="3099" b="1">
                <a:solidFill>
                  <a:srgbClr val="FFFFFF"/>
                </a:solidFill>
                <a:latin typeface="Montserrat Bold"/>
                <a:ea typeface="Montserrat Bold"/>
                <a:cs typeface="Montserrat Bold"/>
                <a:sym typeface="Montserrat Bold"/>
              </a:rPr>
              <a:t>Efficiency</a:t>
            </a:r>
            <a:r>
              <a:rPr lang="en-US" sz="3099">
                <a:solidFill>
                  <a:srgbClr val="FFFFFF"/>
                </a:solidFill>
                <a:latin typeface="Montserrat"/>
                <a:ea typeface="Montserrat"/>
                <a:cs typeface="Montserrat"/>
                <a:sym typeface="Montserrat"/>
              </a:rPr>
              <a:t>:  It stores the data exactly as it looks in the RAM (memory). It doesn't waste time converting the number 50000 into the text characters '5', '0', '0'... it just saves the integer bytes.</a:t>
            </a:r>
          </a:p>
          <a:p>
            <a:pPr marL="708659" lvl="2" indent="-236220" algn="ctr">
              <a:lnSpc>
                <a:spcPts val="4339"/>
              </a:lnSpc>
              <a:buFont typeface="Arial"/>
              <a:buChar char="⚬"/>
            </a:pPr>
            <a:r>
              <a:rPr lang="en-US" sz="3099" b="1">
                <a:solidFill>
                  <a:srgbClr val="FFFFFF"/>
                </a:solidFill>
                <a:latin typeface="Montserrat Bold"/>
                <a:ea typeface="Montserrat Bold"/>
                <a:cs typeface="Montserrat Bold"/>
                <a:sym typeface="Montserrat Bold"/>
              </a:rPr>
              <a:t>Structure</a:t>
            </a:r>
            <a:r>
              <a:rPr lang="en-US" sz="3099">
                <a:solidFill>
                  <a:srgbClr val="FFFFFF"/>
                </a:solidFill>
                <a:latin typeface="Montserrat"/>
                <a:ea typeface="Montserrat"/>
                <a:cs typeface="Montserrat"/>
                <a:sym typeface="Montserrat"/>
              </a:rPr>
              <a:t>:  It is perfect for storing structs because it preserves the exact layout of your data variables.</a:t>
            </a:r>
          </a:p>
          <a:p>
            <a:pPr marL="708659" lvl="2" indent="-236220" algn="ctr">
              <a:lnSpc>
                <a:spcPts val="4339"/>
              </a:lnSpc>
            </a:pPr>
            <a:endParaRPr lang="en-US" sz="3099">
              <a:solidFill>
                <a:srgbClr val="FFFFFF"/>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803986" y="803986"/>
            <a:ext cx="449428" cy="449428"/>
          </a:xfrm>
          <a:custGeom>
            <a:avLst/>
            <a:gdLst/>
            <a:ahLst/>
            <a:cxnLst/>
            <a:rect l="l" t="t" r="r" b="b"/>
            <a:pathLst>
              <a:path w="449428" h="449428">
                <a:moveTo>
                  <a:pt x="0" y="0"/>
                </a:moveTo>
                <a:lnTo>
                  <a:pt x="449428" y="0"/>
                </a:lnTo>
                <a:lnTo>
                  <a:pt x="449428" y="449428"/>
                </a:lnTo>
                <a:lnTo>
                  <a:pt x="0" y="4494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520457" y="422481"/>
            <a:ext cx="15738843" cy="1168289"/>
          </a:xfrm>
          <a:custGeom>
            <a:avLst/>
            <a:gdLst/>
            <a:ahLst/>
            <a:cxnLst/>
            <a:rect l="l" t="t" r="r" b="b"/>
            <a:pathLst>
              <a:path w="15738843" h="1168289">
                <a:moveTo>
                  <a:pt x="0" y="0"/>
                </a:moveTo>
                <a:lnTo>
                  <a:pt x="15738843" y="0"/>
                </a:lnTo>
                <a:lnTo>
                  <a:pt x="15738843" y="1168289"/>
                </a:lnTo>
                <a:lnTo>
                  <a:pt x="0" y="1168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a:off x="543201" y="1969599"/>
            <a:ext cx="9515723" cy="7530332"/>
            <a:chOff x="0" y="0"/>
            <a:chExt cx="12687630" cy="10040442"/>
          </a:xfrm>
        </p:grpSpPr>
        <p:sp>
          <p:nvSpPr>
            <p:cNvPr id="5" name="Freeform 5"/>
            <p:cNvSpPr/>
            <p:nvPr/>
          </p:nvSpPr>
          <p:spPr>
            <a:xfrm>
              <a:off x="0" y="0"/>
              <a:ext cx="12687681" cy="10040493"/>
            </a:xfrm>
            <a:custGeom>
              <a:avLst/>
              <a:gdLst/>
              <a:ahLst/>
              <a:cxnLst/>
              <a:rect l="l" t="t" r="r" b="b"/>
              <a:pathLst>
                <a:path w="12687681" h="10040493">
                  <a:moveTo>
                    <a:pt x="0" y="0"/>
                  </a:moveTo>
                  <a:lnTo>
                    <a:pt x="12687681" y="0"/>
                  </a:lnTo>
                  <a:lnTo>
                    <a:pt x="12687681" y="10040493"/>
                  </a:lnTo>
                  <a:lnTo>
                    <a:pt x="0" y="10040493"/>
                  </a:lnTo>
                  <a:lnTo>
                    <a:pt x="0" y="0"/>
                  </a:lnTo>
                  <a:close/>
                </a:path>
              </a:pathLst>
            </a:custGeom>
            <a:blipFill>
              <a:blip r:embed="rId4"/>
              <a:stretch>
                <a:fillRect/>
              </a:stretch>
            </a:blipFill>
          </p:spPr>
          <p:txBody>
            <a:bodyPr/>
            <a:lstStyle/>
            <a:p>
              <a:endParaRPr lang="en-IN"/>
            </a:p>
          </p:txBody>
        </p:sp>
      </p:grpSp>
      <p:sp>
        <p:nvSpPr>
          <p:cNvPr id="6" name="TextBox 6"/>
          <p:cNvSpPr txBox="1"/>
          <p:nvPr/>
        </p:nvSpPr>
        <p:spPr>
          <a:xfrm>
            <a:off x="1520457" y="485137"/>
            <a:ext cx="15738843" cy="982342"/>
          </a:xfrm>
          <a:prstGeom prst="rect">
            <a:avLst/>
          </a:prstGeom>
        </p:spPr>
        <p:txBody>
          <a:bodyPr lIns="0" tIns="0" rIns="0" bIns="0" rtlCol="0" anchor="t">
            <a:spAutoFit/>
          </a:bodyPr>
          <a:lstStyle/>
          <a:p>
            <a:pPr algn="ctr">
              <a:lnSpc>
                <a:spcPts val="7279"/>
              </a:lnSpc>
            </a:pPr>
            <a:r>
              <a:rPr lang="en-US" sz="5198" b="1">
                <a:solidFill>
                  <a:srgbClr val="FFFFFF"/>
                </a:solidFill>
                <a:latin typeface="Canva Sans Bold"/>
                <a:ea typeface="Canva Sans Bold"/>
                <a:cs typeface="Canva Sans Bold"/>
                <a:sym typeface="Canva Sans Bold"/>
              </a:rPr>
              <a:t>The Main Loop (Menu System)</a:t>
            </a:r>
          </a:p>
        </p:txBody>
      </p:sp>
      <p:sp>
        <p:nvSpPr>
          <p:cNvPr id="7" name="TextBox 7"/>
          <p:cNvSpPr txBox="1"/>
          <p:nvPr/>
        </p:nvSpPr>
        <p:spPr>
          <a:xfrm>
            <a:off x="10399766" y="1836249"/>
            <a:ext cx="7196090" cy="7061435"/>
          </a:xfrm>
          <a:prstGeom prst="rect">
            <a:avLst/>
          </a:prstGeom>
        </p:spPr>
        <p:txBody>
          <a:bodyPr lIns="0" tIns="0" rIns="0" bIns="0" rtlCol="0" anchor="t">
            <a:spAutoFit/>
          </a:bodyPr>
          <a:lstStyle/>
          <a:p>
            <a:pPr algn="ctr">
              <a:lnSpc>
                <a:spcPts val="5061"/>
              </a:lnSpc>
            </a:pPr>
            <a:r>
              <a:rPr lang="en-US" sz="3615">
                <a:solidFill>
                  <a:srgbClr val="FFFFFF"/>
                </a:solidFill>
                <a:latin typeface="Canva Sans"/>
                <a:ea typeface="Canva Sans"/>
                <a:cs typeface="Canva Sans"/>
                <a:sym typeface="Canva Sans"/>
              </a:rPr>
              <a:t>The Backbone of our user interface is an infinite </a:t>
            </a:r>
            <a:r>
              <a:rPr lang="en-US" sz="3615" b="1">
                <a:solidFill>
                  <a:srgbClr val="FFFFFF"/>
                </a:solidFill>
                <a:latin typeface="Canva Sans Bold"/>
                <a:ea typeface="Canva Sans Bold"/>
                <a:cs typeface="Canva Sans Bold"/>
                <a:sym typeface="Canva Sans Bold"/>
              </a:rPr>
              <a:t>while(1)</a:t>
            </a:r>
            <a:r>
              <a:rPr lang="en-US" sz="3615">
                <a:solidFill>
                  <a:srgbClr val="FFFFFF"/>
                </a:solidFill>
                <a:latin typeface="Canva Sans"/>
                <a:ea typeface="Canva Sans"/>
                <a:cs typeface="Canva Sans"/>
                <a:sym typeface="Canva Sans"/>
              </a:rPr>
              <a:t> loop containing a switch case menu. This keeps the program alive until the user explicitly chooses “</a:t>
            </a:r>
            <a:r>
              <a:rPr lang="en-US" sz="3615" b="1">
                <a:solidFill>
                  <a:srgbClr val="FFFFFF"/>
                </a:solidFill>
                <a:latin typeface="Canva Sans Bold"/>
                <a:ea typeface="Canva Sans Bold"/>
                <a:cs typeface="Canva Sans Bold"/>
                <a:sym typeface="Canva Sans Bold"/>
              </a:rPr>
              <a:t>Exit</a:t>
            </a:r>
            <a:r>
              <a:rPr lang="en-US" sz="3615">
                <a:solidFill>
                  <a:srgbClr val="FFFFFF"/>
                </a:solidFill>
                <a:latin typeface="Canva Sans"/>
                <a:ea typeface="Canva Sans"/>
                <a:cs typeface="Canva Sans"/>
                <a:sym typeface="Canva Sans"/>
              </a:rPr>
              <a:t>”. it handles navigation between the </a:t>
            </a:r>
            <a:r>
              <a:rPr lang="en-US" sz="3615" i="1" u="sng">
                <a:solidFill>
                  <a:srgbClr val="FFFFFF"/>
                </a:solidFill>
                <a:latin typeface="Canva Sans Italics"/>
                <a:ea typeface="Canva Sans Italics"/>
                <a:cs typeface="Canva Sans Italics"/>
                <a:sym typeface="Canva Sans Italics"/>
              </a:rPr>
              <a:t>Login</a:t>
            </a:r>
            <a:r>
              <a:rPr lang="en-US" sz="3615">
                <a:solidFill>
                  <a:srgbClr val="FFFFFF"/>
                </a:solidFill>
                <a:latin typeface="Canva Sans"/>
                <a:ea typeface="Canva Sans"/>
                <a:cs typeface="Canva Sans"/>
                <a:sym typeface="Canva Sans"/>
              </a:rPr>
              <a:t> </a:t>
            </a:r>
            <a:r>
              <a:rPr lang="en-US" sz="3615" i="1">
                <a:solidFill>
                  <a:srgbClr val="FFFFFF"/>
                </a:solidFill>
                <a:latin typeface="Canva Sans Italics"/>
                <a:ea typeface="Canva Sans Italics"/>
                <a:cs typeface="Canva Sans Italics"/>
                <a:sym typeface="Canva Sans Italics"/>
              </a:rPr>
              <a:t>Page</a:t>
            </a:r>
            <a:r>
              <a:rPr lang="en-US" sz="3615">
                <a:solidFill>
                  <a:srgbClr val="FFFFFF"/>
                </a:solidFill>
                <a:latin typeface="Canva Sans"/>
                <a:ea typeface="Canva Sans"/>
                <a:cs typeface="Canva Sans"/>
                <a:sym typeface="Canva Sans"/>
              </a:rPr>
              <a:t>, </a:t>
            </a:r>
            <a:r>
              <a:rPr lang="en-US" sz="3615" i="1">
                <a:solidFill>
                  <a:srgbClr val="FFFFFF"/>
                </a:solidFill>
                <a:latin typeface="Canva Sans Italics"/>
                <a:ea typeface="Canva Sans Italics"/>
                <a:cs typeface="Canva Sans Italics"/>
                <a:sym typeface="Canva Sans Italics"/>
              </a:rPr>
              <a:t>Creation Screen </a:t>
            </a:r>
            <a:r>
              <a:rPr lang="en-US" sz="3615">
                <a:solidFill>
                  <a:srgbClr val="FFFFFF"/>
                </a:solidFill>
                <a:latin typeface="Canva Sans"/>
                <a:ea typeface="Canva Sans"/>
                <a:cs typeface="Canva Sans"/>
                <a:sym typeface="Canva Sans"/>
              </a:rPr>
              <a:t>and </a:t>
            </a:r>
            <a:r>
              <a:rPr lang="en-US" sz="3615" i="1">
                <a:solidFill>
                  <a:srgbClr val="FFFFFF"/>
                </a:solidFill>
                <a:latin typeface="Canva Sans Italics"/>
                <a:ea typeface="Canva Sans Italics"/>
                <a:cs typeface="Canva Sans Italics"/>
                <a:sym typeface="Canva Sans Italics"/>
              </a:rPr>
              <a:t>User</a:t>
            </a:r>
            <a:r>
              <a:rPr lang="en-US" sz="3615">
                <a:solidFill>
                  <a:srgbClr val="FFFFFF"/>
                </a:solidFill>
                <a:latin typeface="Canva Sans"/>
                <a:ea typeface="Canva Sans"/>
                <a:cs typeface="Canva Sans"/>
                <a:sym typeface="Canva Sans"/>
              </a:rPr>
              <a:t> </a:t>
            </a:r>
            <a:r>
              <a:rPr lang="en-US" sz="3615" i="1">
                <a:solidFill>
                  <a:srgbClr val="FFFFFF"/>
                </a:solidFill>
                <a:latin typeface="Canva Sans Italics"/>
                <a:ea typeface="Canva Sans Italics"/>
                <a:cs typeface="Canva Sans Italics"/>
                <a:sym typeface="Canva Sans Italics"/>
              </a:rPr>
              <a:t>Dashboard </a:t>
            </a:r>
            <a:r>
              <a:rPr lang="en-US" sz="3615">
                <a:solidFill>
                  <a:srgbClr val="FFFFFF"/>
                </a:solidFill>
                <a:latin typeface="Canva Sans"/>
                <a:ea typeface="Canva Sans"/>
                <a:cs typeface="Canva Sans"/>
                <a:sym typeface="Canva Sans"/>
              </a:rPr>
              <a:t>seamlessly, ensuring the program doesn’t crash after just one operation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124539" y="2027234"/>
            <a:ext cx="10299230" cy="5578754"/>
            <a:chOff x="0" y="0"/>
            <a:chExt cx="13732307" cy="7438339"/>
          </a:xfrm>
        </p:grpSpPr>
        <p:sp>
          <p:nvSpPr>
            <p:cNvPr id="3" name="Freeform 3"/>
            <p:cNvSpPr/>
            <p:nvPr/>
          </p:nvSpPr>
          <p:spPr>
            <a:xfrm>
              <a:off x="0" y="0"/>
              <a:ext cx="13732256" cy="7438390"/>
            </a:xfrm>
            <a:custGeom>
              <a:avLst/>
              <a:gdLst/>
              <a:ahLst/>
              <a:cxnLst/>
              <a:rect l="l" t="t" r="r" b="b"/>
              <a:pathLst>
                <a:path w="13732256" h="7438390">
                  <a:moveTo>
                    <a:pt x="0" y="0"/>
                  </a:moveTo>
                  <a:lnTo>
                    <a:pt x="13732256" y="0"/>
                  </a:lnTo>
                  <a:lnTo>
                    <a:pt x="13732256" y="7438390"/>
                  </a:lnTo>
                  <a:lnTo>
                    <a:pt x="0" y="7438390"/>
                  </a:lnTo>
                  <a:lnTo>
                    <a:pt x="0" y="0"/>
                  </a:lnTo>
                  <a:close/>
                </a:path>
              </a:pathLst>
            </a:custGeom>
            <a:blipFill>
              <a:blip r:embed="rId2"/>
              <a:stretch>
                <a:fillRect/>
              </a:stretch>
            </a:blipFill>
          </p:spPr>
          <p:txBody>
            <a:bodyPr/>
            <a:lstStyle/>
            <a:p>
              <a:endParaRPr lang="en-IN"/>
            </a:p>
          </p:txBody>
        </p:sp>
      </p:grpSp>
      <p:sp>
        <p:nvSpPr>
          <p:cNvPr id="4" name="TextBox 4"/>
          <p:cNvSpPr txBox="1"/>
          <p:nvPr/>
        </p:nvSpPr>
        <p:spPr>
          <a:xfrm>
            <a:off x="10555148" y="2300040"/>
            <a:ext cx="7509529" cy="5447662"/>
          </a:xfrm>
          <a:prstGeom prst="rect">
            <a:avLst/>
          </a:prstGeom>
        </p:spPr>
        <p:txBody>
          <a:bodyPr lIns="0" tIns="0" rIns="0" bIns="0" rtlCol="0" anchor="t">
            <a:spAutoFit/>
          </a:bodyPr>
          <a:lstStyle/>
          <a:p>
            <a:pPr algn="ctr">
              <a:lnSpc>
                <a:spcPts val="4759"/>
              </a:lnSpc>
            </a:pPr>
            <a:r>
              <a:rPr lang="en-US" sz="3399">
                <a:solidFill>
                  <a:srgbClr val="FFFFFF"/>
                </a:solidFill>
                <a:latin typeface="Montserrat"/>
                <a:ea typeface="Montserrat"/>
                <a:cs typeface="Montserrat"/>
                <a:sym typeface="Montserrat"/>
              </a:rPr>
              <a:t>We use the “</a:t>
            </a:r>
            <a:r>
              <a:rPr lang="en-US" sz="3399" b="1">
                <a:solidFill>
                  <a:srgbClr val="FFFFFF"/>
                </a:solidFill>
                <a:latin typeface="Montserrat Bold"/>
                <a:ea typeface="Montserrat Bold"/>
                <a:cs typeface="Montserrat Bold"/>
                <a:sym typeface="Montserrat Bold"/>
              </a:rPr>
              <a:t>FILE</a:t>
            </a:r>
            <a:r>
              <a:rPr lang="en-US" sz="3399">
                <a:solidFill>
                  <a:srgbClr val="FFFFFF"/>
                </a:solidFill>
                <a:latin typeface="Montserrat"/>
                <a:ea typeface="Montserrat"/>
                <a:cs typeface="Montserrat"/>
                <a:sym typeface="Montserrat"/>
              </a:rPr>
              <a:t>” Datatype to access the customers information from the “</a:t>
            </a:r>
            <a:r>
              <a:rPr lang="en-US" sz="3399" b="1">
                <a:solidFill>
                  <a:srgbClr val="FFFFFF"/>
                </a:solidFill>
                <a:latin typeface="Montserrat Bold"/>
                <a:ea typeface="Montserrat Bold"/>
                <a:cs typeface="Montserrat Bold"/>
                <a:sym typeface="Montserrat Bold"/>
              </a:rPr>
              <a:t>Bankdatabase.dat</a:t>
            </a:r>
            <a:r>
              <a:rPr lang="en-US" sz="3399">
                <a:solidFill>
                  <a:srgbClr val="FFFFFF"/>
                </a:solidFill>
                <a:latin typeface="Montserrat"/>
                <a:ea typeface="Montserrat"/>
                <a:cs typeface="Montserrat"/>
                <a:sym typeface="Montserrat"/>
              </a:rPr>
              <a:t>” file</a:t>
            </a:r>
          </a:p>
          <a:p>
            <a:pPr algn="ctr">
              <a:lnSpc>
                <a:spcPts val="4759"/>
              </a:lnSpc>
            </a:pPr>
            <a:endParaRPr lang="en-US" sz="3399">
              <a:solidFill>
                <a:srgbClr val="FFFFFF"/>
              </a:solidFill>
              <a:latin typeface="Montserrat"/>
              <a:ea typeface="Montserrat"/>
              <a:cs typeface="Montserrat"/>
              <a:sym typeface="Montserrat"/>
            </a:endParaRPr>
          </a:p>
          <a:p>
            <a:pPr algn="ctr">
              <a:lnSpc>
                <a:spcPts val="4759"/>
              </a:lnSpc>
            </a:pPr>
            <a:r>
              <a:rPr lang="en-US" sz="3399">
                <a:solidFill>
                  <a:srgbClr val="FFFFFF"/>
                </a:solidFill>
                <a:latin typeface="Montserrat"/>
                <a:ea typeface="Montserrat"/>
                <a:cs typeface="Montserrat"/>
                <a:sym typeface="Montserrat"/>
              </a:rPr>
              <a:t>The “</a:t>
            </a:r>
            <a:r>
              <a:rPr lang="en-US" sz="3399" b="1">
                <a:solidFill>
                  <a:srgbClr val="FFFFFF"/>
                </a:solidFill>
                <a:latin typeface="Montserrat Bold"/>
                <a:ea typeface="Montserrat Bold"/>
                <a:cs typeface="Montserrat Bold"/>
                <a:sym typeface="Montserrat Bold"/>
              </a:rPr>
              <a:t>fread()</a:t>
            </a:r>
            <a:r>
              <a:rPr lang="en-US" sz="3399">
                <a:solidFill>
                  <a:srgbClr val="FFFFFF"/>
                </a:solidFill>
                <a:latin typeface="Montserrat"/>
                <a:ea typeface="Montserrat"/>
                <a:cs typeface="Montserrat"/>
                <a:sym typeface="Montserrat"/>
              </a:rPr>
              <a:t>”function reads a block of memory from the file.</a:t>
            </a:r>
          </a:p>
          <a:p>
            <a:pPr algn="ctr">
              <a:lnSpc>
                <a:spcPts val="4759"/>
              </a:lnSpc>
            </a:pPr>
            <a:endParaRPr lang="en-US" sz="3399">
              <a:solidFill>
                <a:srgbClr val="FFFFFF"/>
              </a:solidFill>
              <a:latin typeface="Montserrat"/>
              <a:ea typeface="Montserrat"/>
              <a:cs typeface="Montserrat"/>
              <a:sym typeface="Montserrat"/>
            </a:endParaRPr>
          </a:p>
          <a:p>
            <a:pPr algn="ctr">
              <a:lnSpc>
                <a:spcPts val="4759"/>
              </a:lnSpc>
            </a:pPr>
            <a:r>
              <a:rPr lang="en-US" sz="3399">
                <a:solidFill>
                  <a:srgbClr val="FFFFFF"/>
                </a:solidFill>
                <a:latin typeface="Montserrat"/>
                <a:ea typeface="Montserrat"/>
                <a:cs typeface="Montserrat"/>
                <a:sym typeface="Montserrat"/>
              </a:rPr>
              <a:t>The “</a:t>
            </a:r>
            <a:r>
              <a:rPr lang="en-US" sz="3399" b="1">
                <a:solidFill>
                  <a:srgbClr val="FFFFFF"/>
                </a:solidFill>
                <a:latin typeface="Montserrat Bold"/>
                <a:ea typeface="Montserrat Bold"/>
                <a:cs typeface="Montserrat Bold"/>
                <a:sym typeface="Montserrat Bold"/>
              </a:rPr>
              <a:t>fseek()</a:t>
            </a:r>
            <a:r>
              <a:rPr lang="en-US" sz="3399">
                <a:solidFill>
                  <a:srgbClr val="FFFFFF"/>
                </a:solidFill>
                <a:latin typeface="Montserrat"/>
                <a:ea typeface="Montserrat"/>
                <a:cs typeface="Montserrat"/>
                <a:sym typeface="Montserrat"/>
              </a:rPr>
              <a:t>” moves the file cursor to a specific location</a:t>
            </a:r>
          </a:p>
        </p:txBody>
      </p:sp>
      <p:sp>
        <p:nvSpPr>
          <p:cNvPr id="5" name="TextBox 5"/>
          <p:cNvSpPr txBox="1"/>
          <p:nvPr/>
        </p:nvSpPr>
        <p:spPr>
          <a:xfrm>
            <a:off x="1028700" y="7870317"/>
            <a:ext cx="16230600" cy="1847212"/>
          </a:xfrm>
          <a:prstGeom prst="rect">
            <a:avLst/>
          </a:prstGeom>
        </p:spPr>
        <p:txBody>
          <a:bodyPr lIns="0" tIns="0" rIns="0" bIns="0" rtlCol="0" anchor="t">
            <a:spAutoFit/>
          </a:bodyPr>
          <a:lstStyle/>
          <a:p>
            <a:pPr algn="ctr">
              <a:lnSpc>
                <a:spcPts val="4759"/>
              </a:lnSpc>
            </a:pPr>
            <a:r>
              <a:rPr lang="en-US" sz="3399">
                <a:solidFill>
                  <a:srgbClr val="FFFFFF"/>
                </a:solidFill>
                <a:latin typeface="Montserrat"/>
                <a:ea typeface="Montserrat"/>
                <a:cs typeface="Montserrat"/>
                <a:sym typeface="Montserrat"/>
              </a:rPr>
              <a:t>The “</a:t>
            </a:r>
            <a:r>
              <a:rPr lang="en-US" sz="3399" b="1">
                <a:solidFill>
                  <a:srgbClr val="FFFFFF"/>
                </a:solidFill>
                <a:latin typeface="Montserrat Bold"/>
                <a:ea typeface="Montserrat Bold"/>
                <a:cs typeface="Montserrat Bold"/>
                <a:sym typeface="Montserrat Bold"/>
              </a:rPr>
              <a:t>fwrite()</a:t>
            </a:r>
            <a:r>
              <a:rPr lang="en-US" sz="3399">
                <a:solidFill>
                  <a:srgbClr val="FFFFFF"/>
                </a:solidFill>
                <a:latin typeface="Montserrat"/>
                <a:ea typeface="Montserrat"/>
                <a:cs typeface="Montserrat"/>
                <a:sym typeface="Montserrat"/>
              </a:rPr>
              <a:t>” function writes the updated data back to the file</a:t>
            </a:r>
          </a:p>
          <a:p>
            <a:pPr algn="ctr">
              <a:lnSpc>
                <a:spcPts val="4759"/>
              </a:lnSpc>
            </a:pPr>
            <a:r>
              <a:rPr lang="en-US" sz="3399">
                <a:solidFill>
                  <a:srgbClr val="FFFFFF"/>
                </a:solidFill>
                <a:latin typeface="Montserrat"/>
                <a:ea typeface="Montserrat"/>
                <a:cs typeface="Montserrat"/>
                <a:sym typeface="Montserrat"/>
              </a:rPr>
              <a:t>The “</a:t>
            </a:r>
            <a:r>
              <a:rPr lang="en-US" sz="3399" b="1">
                <a:solidFill>
                  <a:srgbClr val="FFFFFF"/>
                </a:solidFill>
                <a:latin typeface="Montserrat Bold"/>
                <a:ea typeface="Montserrat Bold"/>
                <a:cs typeface="Montserrat Bold"/>
                <a:sym typeface="Montserrat Bold"/>
              </a:rPr>
              <a:t>fclose()</a:t>
            </a:r>
            <a:r>
              <a:rPr lang="en-US" sz="3399">
                <a:solidFill>
                  <a:srgbClr val="FFFFFF"/>
                </a:solidFill>
                <a:latin typeface="Montserrat"/>
                <a:ea typeface="Montserrat"/>
                <a:cs typeface="Montserrat"/>
                <a:sym typeface="Montserrat"/>
              </a:rPr>
              <a:t>” function closes the connection to the file, ensuring the data is actually saved.</a:t>
            </a:r>
          </a:p>
        </p:txBody>
      </p:sp>
      <p:sp>
        <p:nvSpPr>
          <p:cNvPr id="6" name="Freeform 6"/>
          <p:cNvSpPr/>
          <p:nvPr/>
        </p:nvSpPr>
        <p:spPr>
          <a:xfrm>
            <a:off x="541896" y="60131"/>
            <a:ext cx="16717404" cy="1567053"/>
          </a:xfrm>
          <a:custGeom>
            <a:avLst/>
            <a:gdLst/>
            <a:ahLst/>
            <a:cxnLst/>
            <a:rect l="l" t="t" r="r" b="b"/>
            <a:pathLst>
              <a:path w="16717404" h="1567053">
                <a:moveTo>
                  <a:pt x="0" y="0"/>
                </a:moveTo>
                <a:lnTo>
                  <a:pt x="16717404" y="0"/>
                </a:lnTo>
                <a:lnTo>
                  <a:pt x="16717404" y="1567053"/>
                </a:lnTo>
                <a:lnTo>
                  <a:pt x="0" y="156705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360121" y="-110804"/>
            <a:ext cx="18648121" cy="1737998"/>
          </a:xfrm>
          <a:prstGeom prst="rect">
            <a:avLst/>
          </a:prstGeom>
        </p:spPr>
        <p:txBody>
          <a:bodyPr lIns="0" tIns="0" rIns="0" bIns="0" rtlCol="0" anchor="t">
            <a:spAutoFit/>
          </a:bodyPr>
          <a:lstStyle/>
          <a:p>
            <a:pPr algn="ctr">
              <a:lnSpc>
                <a:spcPts val="12880"/>
              </a:lnSpc>
            </a:pPr>
            <a:r>
              <a:rPr lang="en-US" sz="9200" b="1">
                <a:solidFill>
                  <a:srgbClr val="FFFFFF"/>
                </a:solidFill>
                <a:latin typeface="Canva Sans Bold"/>
                <a:ea typeface="Canva Sans Bold"/>
                <a:cs typeface="Canva Sans Bold"/>
                <a:sym typeface="Canva Sans Bold"/>
              </a:rPr>
              <a:t>Deposit / Withdraw Function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86EB9F23-5DDF-B130-9FCD-DC9635D5AA2F}"/>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83747844-4806-7A9E-7A3A-1C583C9CDFBD}"/>
              </a:ext>
            </a:extLst>
          </p:cNvPr>
          <p:cNvSpPr txBox="1"/>
          <p:nvPr/>
        </p:nvSpPr>
        <p:spPr>
          <a:xfrm>
            <a:off x="627009" y="1832390"/>
            <a:ext cx="16717403" cy="2185214"/>
          </a:xfrm>
          <a:prstGeom prst="rect">
            <a:avLst/>
          </a:prstGeom>
        </p:spPr>
        <p:txBody>
          <a:bodyPr wrap="square" lIns="0" tIns="0" rIns="0" bIns="0" rtlCol="0" anchor="t">
            <a:spAutoFit/>
          </a:bodyPr>
          <a:lstStyle/>
          <a:p>
            <a:pPr>
              <a:lnSpc>
                <a:spcPts val="4759"/>
              </a:lnSpc>
            </a:pPr>
            <a:r>
              <a:rPr lang="en-IN" sz="3400" dirty="0">
                <a:solidFill>
                  <a:schemeClr val="bg1"/>
                </a:solidFill>
              </a:rPr>
              <a:t>Why Stack? </a:t>
            </a:r>
          </a:p>
          <a:p>
            <a:r>
              <a:rPr lang="en-IN" sz="3400" b="1" dirty="0">
                <a:solidFill>
                  <a:schemeClr val="bg1"/>
                </a:solidFill>
              </a:rPr>
              <a:t>Real-world Need:</a:t>
            </a:r>
            <a:r>
              <a:rPr lang="en-IN" sz="3400" dirty="0">
                <a:solidFill>
                  <a:schemeClr val="bg1"/>
                </a:solidFill>
              </a:rPr>
              <a:t> When you open a bank app, you want to see your </a:t>
            </a:r>
            <a:r>
              <a:rPr lang="en-IN" sz="3400" b="1" dirty="0">
                <a:solidFill>
                  <a:schemeClr val="bg1"/>
                </a:solidFill>
              </a:rPr>
              <a:t>newest transaction first</a:t>
            </a:r>
            <a:r>
              <a:rPr lang="en-IN" sz="3400" dirty="0">
                <a:solidFill>
                  <a:schemeClr val="bg1"/>
                </a:solidFill>
              </a:rPr>
              <a:t>. </a:t>
            </a:r>
          </a:p>
          <a:p>
            <a:r>
              <a:rPr lang="en-IN" sz="3400" b="1" dirty="0">
                <a:solidFill>
                  <a:schemeClr val="bg1"/>
                </a:solidFill>
              </a:rPr>
              <a:t>LIFO Property:</a:t>
            </a:r>
            <a:r>
              <a:rPr lang="en-IN" sz="3400" dirty="0">
                <a:solidFill>
                  <a:schemeClr val="bg1"/>
                </a:solidFill>
              </a:rPr>
              <a:t> A </a:t>
            </a:r>
            <a:r>
              <a:rPr lang="en-IN" sz="3400" b="1" dirty="0">
                <a:solidFill>
                  <a:schemeClr val="bg1"/>
                </a:solidFill>
              </a:rPr>
              <a:t>Stack</a:t>
            </a:r>
            <a:r>
              <a:rPr lang="en-IN" sz="3400" dirty="0">
                <a:solidFill>
                  <a:schemeClr val="bg1"/>
                </a:solidFill>
              </a:rPr>
              <a:t> follows </a:t>
            </a:r>
            <a:r>
              <a:rPr lang="en-IN" sz="3400" b="1" dirty="0">
                <a:solidFill>
                  <a:schemeClr val="bg1"/>
                </a:solidFill>
              </a:rPr>
              <a:t>Last-In, First-Out (LIFO)</a:t>
            </a:r>
            <a:r>
              <a:rPr lang="en-IN" sz="3400" dirty="0">
                <a:solidFill>
                  <a:schemeClr val="bg1"/>
                </a:solidFill>
              </a:rPr>
              <a:t>. The last transaction done is sitting on </a:t>
            </a:r>
            <a:r>
              <a:rPr lang="en-IN" sz="3400" b="1" dirty="0">
                <a:solidFill>
                  <a:schemeClr val="bg1"/>
                </a:solidFill>
              </a:rPr>
              <a:t>TOP</a:t>
            </a:r>
            <a:r>
              <a:rPr lang="en-IN" sz="3400" dirty="0">
                <a:solidFill>
                  <a:schemeClr val="bg1"/>
                </a:solidFill>
              </a:rPr>
              <a:t>. </a:t>
            </a:r>
          </a:p>
        </p:txBody>
      </p:sp>
      <p:sp>
        <p:nvSpPr>
          <p:cNvPr id="5" name="TextBox 5">
            <a:extLst>
              <a:ext uri="{FF2B5EF4-FFF2-40B4-BE49-F238E27FC236}">
                <a16:creationId xmlns:a16="http://schemas.microsoft.com/office/drawing/2014/main" id="{08323231-F96A-BE06-F791-1ABDFDA75BEF}"/>
              </a:ext>
            </a:extLst>
          </p:cNvPr>
          <p:cNvSpPr txBox="1"/>
          <p:nvPr/>
        </p:nvSpPr>
        <p:spPr>
          <a:xfrm>
            <a:off x="11434364" y="4393746"/>
            <a:ext cx="6248400" cy="3044103"/>
          </a:xfrm>
          <a:prstGeom prst="rect">
            <a:avLst/>
          </a:prstGeom>
        </p:spPr>
        <p:txBody>
          <a:bodyPr wrap="square" lIns="0" tIns="0" rIns="0" bIns="0" rtlCol="0" anchor="t">
            <a:spAutoFit/>
          </a:bodyPr>
          <a:lstStyle/>
          <a:p>
            <a:pPr algn="ctr">
              <a:lnSpc>
                <a:spcPts val="4759"/>
              </a:lnSpc>
            </a:pPr>
            <a:r>
              <a:rPr lang="en-IN" sz="3600" dirty="0">
                <a:solidFill>
                  <a:schemeClr val="bg1"/>
                </a:solidFill>
              </a:rPr>
              <a:t>We chose a dynamic linked-list stack instead of an array so history grows flexibly without fixed limits, while enabling o(1) instant updates to the top item.</a:t>
            </a:r>
            <a:endParaRPr lang="en-US" sz="3399" dirty="0">
              <a:solidFill>
                <a:schemeClr val="bg1"/>
              </a:solidFill>
              <a:latin typeface="Montserrat"/>
              <a:ea typeface="Montserrat"/>
              <a:cs typeface="Montserrat"/>
              <a:sym typeface="Montserrat"/>
            </a:endParaRPr>
          </a:p>
        </p:txBody>
      </p:sp>
      <p:sp>
        <p:nvSpPr>
          <p:cNvPr id="6" name="Freeform 6">
            <a:extLst>
              <a:ext uri="{FF2B5EF4-FFF2-40B4-BE49-F238E27FC236}">
                <a16:creationId xmlns:a16="http://schemas.microsoft.com/office/drawing/2014/main" id="{1BD83F1B-B3F3-F83C-6F6E-4D5065BC46A2}"/>
              </a:ext>
            </a:extLst>
          </p:cNvPr>
          <p:cNvSpPr/>
          <p:nvPr/>
        </p:nvSpPr>
        <p:spPr>
          <a:xfrm>
            <a:off x="605237" y="0"/>
            <a:ext cx="16717404" cy="1567053"/>
          </a:xfrm>
          <a:custGeom>
            <a:avLst/>
            <a:gdLst/>
            <a:ahLst/>
            <a:cxnLst/>
            <a:rect l="l" t="t" r="r" b="b"/>
            <a:pathLst>
              <a:path w="16717404" h="1567053">
                <a:moveTo>
                  <a:pt x="0" y="0"/>
                </a:moveTo>
                <a:lnTo>
                  <a:pt x="16717404" y="0"/>
                </a:lnTo>
                <a:lnTo>
                  <a:pt x="16717404" y="1567053"/>
                </a:lnTo>
                <a:lnTo>
                  <a:pt x="0" y="15670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7" name="TextBox 7">
            <a:extLst>
              <a:ext uri="{FF2B5EF4-FFF2-40B4-BE49-F238E27FC236}">
                <a16:creationId xmlns:a16="http://schemas.microsoft.com/office/drawing/2014/main" id="{461B05E9-27E9-25D1-8D98-4EB8E378D675}"/>
              </a:ext>
            </a:extLst>
          </p:cNvPr>
          <p:cNvSpPr txBox="1"/>
          <p:nvPr/>
        </p:nvSpPr>
        <p:spPr>
          <a:xfrm>
            <a:off x="-360120" y="-110805"/>
            <a:ext cx="18042884" cy="1567053"/>
          </a:xfrm>
          <a:prstGeom prst="rect">
            <a:avLst/>
          </a:prstGeom>
        </p:spPr>
        <p:txBody>
          <a:bodyPr wrap="square" lIns="0" tIns="0" rIns="0" bIns="0" rtlCol="0" anchor="t">
            <a:spAutoFit/>
          </a:bodyPr>
          <a:lstStyle/>
          <a:p>
            <a:pPr algn="ctr">
              <a:lnSpc>
                <a:spcPts val="12880"/>
              </a:lnSpc>
            </a:pPr>
            <a:r>
              <a:rPr lang="en-IN" sz="9000" b="1" dirty="0">
                <a:solidFill>
                  <a:schemeClr val="bg1"/>
                </a:solidFill>
              </a:rPr>
              <a:t>Transaction History via Stack (LIFO)</a:t>
            </a:r>
            <a:endParaRPr lang="en-US" sz="9000" b="1" dirty="0">
              <a:solidFill>
                <a:schemeClr val="bg1"/>
              </a:solidFill>
              <a:latin typeface="Canva Sans Bold"/>
              <a:ea typeface="Canva Sans Bold"/>
              <a:cs typeface="Canva Sans Bold"/>
              <a:sym typeface="Canva Sans Bold"/>
            </a:endParaRPr>
          </a:p>
        </p:txBody>
      </p:sp>
      <p:sp>
        <p:nvSpPr>
          <p:cNvPr id="10" name="TextBox 9">
            <a:extLst>
              <a:ext uri="{FF2B5EF4-FFF2-40B4-BE49-F238E27FC236}">
                <a16:creationId xmlns:a16="http://schemas.microsoft.com/office/drawing/2014/main" id="{5C54BDE9-AAC4-E00E-9D4C-540AB3BF37B5}"/>
              </a:ext>
            </a:extLst>
          </p:cNvPr>
          <p:cNvSpPr txBox="1"/>
          <p:nvPr/>
        </p:nvSpPr>
        <p:spPr>
          <a:xfrm>
            <a:off x="599794" y="4299270"/>
            <a:ext cx="10068206" cy="5940088"/>
          </a:xfrm>
          <a:prstGeom prst="rect">
            <a:avLst/>
          </a:prstGeom>
          <a:noFill/>
        </p:spPr>
        <p:txBody>
          <a:bodyPr wrap="square" rtlCol="0">
            <a:spAutoFit/>
          </a:bodyPr>
          <a:lstStyle/>
          <a:p>
            <a:pPr>
              <a:lnSpc>
                <a:spcPts val="4759"/>
              </a:lnSpc>
            </a:pPr>
            <a:r>
              <a:rPr lang="en-US" sz="3400" dirty="0">
                <a:solidFill>
                  <a:schemeClr val="bg1"/>
                </a:solidFill>
                <a:latin typeface="Montserrat"/>
                <a:ea typeface="Montserrat"/>
                <a:cs typeface="Montserrat"/>
                <a:sym typeface="Montserrat"/>
              </a:rPr>
              <a:t>The Steps :</a:t>
            </a:r>
          </a:p>
          <a:p>
            <a:r>
              <a:rPr lang="en-IN" sz="3400" b="1" dirty="0">
                <a:solidFill>
                  <a:schemeClr val="bg1"/>
                </a:solidFill>
              </a:rPr>
              <a:t>PUSH (Adding a Transaction):</a:t>
            </a:r>
            <a:r>
              <a:rPr lang="en-IN" sz="3400" dirty="0">
                <a:solidFill>
                  <a:schemeClr val="bg1"/>
                </a:solidFill>
              </a:rPr>
              <a:t> Every deposit or withdrawal creates a new dynamic node and pushes it onto the top of the stack in </a:t>
            </a:r>
            <a:r>
              <a:rPr lang="en-IN" sz="3400" b="1" dirty="0">
                <a:solidFill>
                  <a:schemeClr val="bg1"/>
                </a:solidFill>
              </a:rPr>
              <a:t>$O(1)$ constant time</a:t>
            </a:r>
            <a:r>
              <a:rPr lang="en-IN" sz="3400" dirty="0">
                <a:solidFill>
                  <a:schemeClr val="bg1"/>
                </a:solidFill>
              </a:rPr>
              <a:t>. </a:t>
            </a:r>
          </a:p>
          <a:p>
            <a:r>
              <a:rPr lang="en-IN" sz="3400" b="1" dirty="0">
                <a:solidFill>
                  <a:schemeClr val="bg1"/>
                </a:solidFill>
              </a:rPr>
              <a:t>POP (Viewing History):</a:t>
            </a:r>
            <a:r>
              <a:rPr lang="en-IN" sz="3400" dirty="0">
                <a:solidFill>
                  <a:schemeClr val="bg1"/>
                </a:solidFill>
              </a:rPr>
              <a:t> To show history, we pop nodes off the top one by one, displaying newest transactions first. </a:t>
            </a:r>
          </a:p>
          <a:p>
            <a:r>
              <a:rPr lang="en-IN" sz="3400" b="1" dirty="0">
                <a:solidFill>
                  <a:schemeClr val="bg1"/>
                </a:solidFill>
              </a:rPr>
              <a:t>TEMP STACK (Preserving Data):</a:t>
            </a:r>
            <a:r>
              <a:rPr lang="en-IN" sz="3400" dirty="0">
                <a:solidFill>
                  <a:schemeClr val="bg1"/>
                </a:solidFill>
              </a:rPr>
              <a:t> Popping destroys the stack! So we park popped items in a temporary stack and push them right back so data isn't lost.</a:t>
            </a:r>
          </a:p>
          <a:p>
            <a:endParaRPr lang="en-IN" sz="3400" dirty="0"/>
          </a:p>
        </p:txBody>
      </p:sp>
    </p:spTree>
    <p:extLst>
      <p:ext uri="{BB962C8B-B14F-4D97-AF65-F5344CB8AC3E}">
        <p14:creationId xmlns:p14="http://schemas.microsoft.com/office/powerpoint/2010/main" val="3254793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DD065D4D-90A6-3DD0-B028-58F4CD24F73F}"/>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80F1FC5C-71DD-77DB-C284-AC485BCB18B2}"/>
              </a:ext>
            </a:extLst>
          </p:cNvPr>
          <p:cNvSpPr/>
          <p:nvPr/>
        </p:nvSpPr>
        <p:spPr>
          <a:xfrm>
            <a:off x="605237" y="0"/>
            <a:ext cx="16717404" cy="1567053"/>
          </a:xfrm>
          <a:custGeom>
            <a:avLst/>
            <a:gdLst/>
            <a:ahLst/>
            <a:cxnLst/>
            <a:rect l="l" t="t" r="r" b="b"/>
            <a:pathLst>
              <a:path w="16717404" h="1567053">
                <a:moveTo>
                  <a:pt x="0" y="0"/>
                </a:moveTo>
                <a:lnTo>
                  <a:pt x="16717404" y="0"/>
                </a:lnTo>
                <a:lnTo>
                  <a:pt x="16717404" y="1567053"/>
                </a:lnTo>
                <a:lnTo>
                  <a:pt x="0" y="15670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7" name="TextBox 7">
            <a:extLst>
              <a:ext uri="{FF2B5EF4-FFF2-40B4-BE49-F238E27FC236}">
                <a16:creationId xmlns:a16="http://schemas.microsoft.com/office/drawing/2014/main" id="{A4A5B5B6-A18D-BFAC-3540-4F6F5E44513B}"/>
              </a:ext>
            </a:extLst>
          </p:cNvPr>
          <p:cNvSpPr txBox="1"/>
          <p:nvPr/>
        </p:nvSpPr>
        <p:spPr>
          <a:xfrm>
            <a:off x="-360120" y="-110805"/>
            <a:ext cx="18042884" cy="1567053"/>
          </a:xfrm>
          <a:prstGeom prst="rect">
            <a:avLst/>
          </a:prstGeom>
        </p:spPr>
        <p:txBody>
          <a:bodyPr wrap="square" lIns="0" tIns="0" rIns="0" bIns="0" rtlCol="0" anchor="t">
            <a:spAutoFit/>
          </a:bodyPr>
          <a:lstStyle/>
          <a:p>
            <a:pPr algn="ctr">
              <a:lnSpc>
                <a:spcPts val="12880"/>
              </a:lnSpc>
            </a:pPr>
            <a:r>
              <a:rPr lang="en-IN" sz="9000" b="1" dirty="0">
                <a:solidFill>
                  <a:schemeClr val="bg1"/>
                </a:solidFill>
              </a:rPr>
              <a:t>Transaction History via Stack (LIFO)</a:t>
            </a:r>
            <a:endParaRPr lang="en-US" sz="9000" b="1" dirty="0">
              <a:solidFill>
                <a:schemeClr val="bg1"/>
              </a:solidFill>
              <a:latin typeface="Canva Sans Bold"/>
              <a:ea typeface="Canva Sans Bold"/>
              <a:cs typeface="Canva Sans Bold"/>
              <a:sym typeface="Canva Sans Bold"/>
            </a:endParaRPr>
          </a:p>
        </p:txBody>
      </p:sp>
      <p:pic>
        <p:nvPicPr>
          <p:cNvPr id="3" name="Picture 2">
            <a:extLst>
              <a:ext uri="{FF2B5EF4-FFF2-40B4-BE49-F238E27FC236}">
                <a16:creationId xmlns:a16="http://schemas.microsoft.com/office/drawing/2014/main" id="{1A0902A9-6880-13C9-F91E-335C4F634E60}"/>
              </a:ext>
            </a:extLst>
          </p:cNvPr>
          <p:cNvPicPr>
            <a:picLocks noChangeAspect="1"/>
          </p:cNvPicPr>
          <p:nvPr/>
        </p:nvPicPr>
        <p:blipFill>
          <a:blip r:embed="rId3"/>
          <a:stretch>
            <a:fillRect/>
          </a:stretch>
        </p:blipFill>
        <p:spPr>
          <a:xfrm>
            <a:off x="762000" y="1677858"/>
            <a:ext cx="8724553" cy="8215709"/>
          </a:xfrm>
          <a:prstGeom prst="rect">
            <a:avLst/>
          </a:prstGeom>
        </p:spPr>
      </p:pic>
      <p:pic>
        <p:nvPicPr>
          <p:cNvPr id="11" name="Picture 10">
            <a:extLst>
              <a:ext uri="{FF2B5EF4-FFF2-40B4-BE49-F238E27FC236}">
                <a16:creationId xmlns:a16="http://schemas.microsoft.com/office/drawing/2014/main" id="{DFCF0F16-0F1A-5568-4C1B-943CED7CCBEF}"/>
              </a:ext>
            </a:extLst>
          </p:cNvPr>
          <p:cNvPicPr>
            <a:picLocks noChangeAspect="1"/>
          </p:cNvPicPr>
          <p:nvPr/>
        </p:nvPicPr>
        <p:blipFill>
          <a:blip r:embed="rId4"/>
          <a:stretch>
            <a:fillRect/>
          </a:stretch>
        </p:blipFill>
        <p:spPr>
          <a:xfrm>
            <a:off x="7755867" y="1677858"/>
            <a:ext cx="10504919" cy="1974877"/>
          </a:xfrm>
          <a:prstGeom prst="rect">
            <a:avLst/>
          </a:prstGeom>
        </p:spPr>
      </p:pic>
      <p:pic>
        <p:nvPicPr>
          <p:cNvPr id="13" name="Picture 12">
            <a:extLst>
              <a:ext uri="{FF2B5EF4-FFF2-40B4-BE49-F238E27FC236}">
                <a16:creationId xmlns:a16="http://schemas.microsoft.com/office/drawing/2014/main" id="{CADABDE3-61E6-877D-5A3C-95E5BA49B12C}"/>
              </a:ext>
            </a:extLst>
          </p:cNvPr>
          <p:cNvPicPr>
            <a:picLocks noChangeAspect="1"/>
          </p:cNvPicPr>
          <p:nvPr/>
        </p:nvPicPr>
        <p:blipFill>
          <a:blip r:embed="rId5"/>
          <a:stretch>
            <a:fillRect/>
          </a:stretch>
        </p:blipFill>
        <p:spPr>
          <a:xfrm>
            <a:off x="9144000" y="3630964"/>
            <a:ext cx="8866414" cy="2752760"/>
          </a:xfrm>
          <a:prstGeom prst="rect">
            <a:avLst/>
          </a:prstGeom>
        </p:spPr>
      </p:pic>
    </p:spTree>
    <p:extLst>
      <p:ext uri="{BB962C8B-B14F-4D97-AF65-F5344CB8AC3E}">
        <p14:creationId xmlns:p14="http://schemas.microsoft.com/office/powerpoint/2010/main" val="1482187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878329" y="38081"/>
            <a:ext cx="15738843" cy="1168289"/>
          </a:xfrm>
          <a:custGeom>
            <a:avLst/>
            <a:gdLst/>
            <a:ahLst/>
            <a:cxnLst/>
            <a:rect l="l" t="t" r="r" b="b"/>
            <a:pathLst>
              <a:path w="15738843" h="1168289">
                <a:moveTo>
                  <a:pt x="0" y="0"/>
                </a:moveTo>
                <a:lnTo>
                  <a:pt x="15738843" y="0"/>
                </a:lnTo>
                <a:lnTo>
                  <a:pt x="15738843" y="1168289"/>
                </a:lnTo>
                <a:lnTo>
                  <a:pt x="0" y="116828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aphicFrame>
        <p:nvGraphicFramePr>
          <p:cNvPr id="3" name="Table 3"/>
          <p:cNvGraphicFramePr>
            <a:graphicFrameLocks noGrp="1"/>
          </p:cNvGraphicFramePr>
          <p:nvPr/>
        </p:nvGraphicFramePr>
        <p:xfrm>
          <a:off x="1028700" y="1536788"/>
          <a:ext cx="16027400" cy="8509001"/>
        </p:xfrm>
        <a:graphic>
          <a:graphicData uri="http://schemas.openxmlformats.org/drawingml/2006/table">
            <a:tbl>
              <a:tblPr/>
              <a:tblGrid>
                <a:gridCol w="2659232">
                  <a:extLst>
                    <a:ext uri="{9D8B030D-6E8A-4147-A177-3AD203B41FA5}">
                      <a16:colId xmlns:a16="http://schemas.microsoft.com/office/drawing/2014/main" val="20000"/>
                    </a:ext>
                  </a:extLst>
                </a:gridCol>
                <a:gridCol w="5296541">
                  <a:extLst>
                    <a:ext uri="{9D8B030D-6E8A-4147-A177-3AD203B41FA5}">
                      <a16:colId xmlns:a16="http://schemas.microsoft.com/office/drawing/2014/main" val="20001"/>
                    </a:ext>
                  </a:extLst>
                </a:gridCol>
                <a:gridCol w="8071627">
                  <a:extLst>
                    <a:ext uri="{9D8B030D-6E8A-4147-A177-3AD203B41FA5}">
                      <a16:colId xmlns:a16="http://schemas.microsoft.com/office/drawing/2014/main" val="20002"/>
                    </a:ext>
                  </a:extLst>
                </a:gridCol>
              </a:tblGrid>
              <a:tr h="1004712">
                <a:tc>
                  <a:txBody>
                    <a:bodyPr/>
                    <a:lstStyle/>
                    <a:p>
                      <a:pPr algn="ctr">
                        <a:lnSpc>
                          <a:spcPts val="2658"/>
                        </a:lnSpc>
                        <a:defRPr/>
                      </a:pPr>
                      <a:r>
                        <a:rPr lang="en-US" sz="1899" b="1">
                          <a:solidFill>
                            <a:srgbClr val="FFFFFF"/>
                          </a:solidFill>
                          <a:latin typeface="Canva Sans Bold"/>
                          <a:ea typeface="Canva Sans Bold"/>
                          <a:cs typeface="Canva Sans Bold"/>
                          <a:sym typeface="Canva Sans Bold"/>
                        </a:rPr>
                        <a:t>Abbreviation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Meaning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b="1">
                          <a:solidFill>
                            <a:srgbClr val="FFFFFF"/>
                          </a:solidFill>
                          <a:latin typeface="Canva Sans Bold"/>
                          <a:ea typeface="Canva Sans Bold"/>
                          <a:cs typeface="Canva Sans Bold"/>
                          <a:sym typeface="Canva Sans Bold"/>
                        </a:rPr>
                        <a:t>Where it is used in the program?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803708">
                <a:tc>
                  <a:txBody>
                    <a:bodyPr/>
                    <a:lstStyle/>
                    <a:p>
                      <a:pPr algn="ctr">
                        <a:lnSpc>
                          <a:spcPts val="2658"/>
                        </a:lnSpc>
                        <a:defRPr/>
                      </a:pPr>
                      <a:r>
                        <a:rPr lang="en-US" sz="1899">
                          <a:solidFill>
                            <a:srgbClr val="FFFFFF"/>
                          </a:solidFill>
                          <a:latin typeface="Canva Sans"/>
                          <a:ea typeface="Canva Sans"/>
                          <a:cs typeface="Canva Sans"/>
                          <a:sym typeface="Canva Sans"/>
                        </a:rPr>
                        <a:t>%d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Integer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Used for Customer ID, Menu Choice(1,2,3)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803708">
                <a:tc>
                  <a:txBody>
                    <a:bodyPr/>
                    <a:lstStyle/>
                    <a:p>
                      <a:pPr algn="ctr">
                        <a:lnSpc>
                          <a:spcPts val="2658"/>
                        </a:lnSpc>
                        <a:defRPr/>
                      </a:pPr>
                      <a:r>
                        <a:rPr lang="en-US" sz="1899">
                          <a:solidFill>
                            <a:srgbClr val="FFFFFF"/>
                          </a:solidFill>
                          <a:latin typeface="Canva Sans"/>
                          <a:ea typeface="Canva Sans"/>
                          <a:cs typeface="Canva Sans"/>
                          <a:sym typeface="Canva Sans"/>
                        </a:rPr>
                        <a:t>%.2f</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Floating Point Number(2 Decimals)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Used to Print Balance Only upto 2 decimal points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065887">
                <a:tc>
                  <a:txBody>
                    <a:bodyPr/>
                    <a:lstStyle/>
                    <a:p>
                      <a:pPr algn="ctr">
                        <a:lnSpc>
                          <a:spcPts val="2658"/>
                        </a:lnSpc>
                        <a:defRPr/>
                      </a:pPr>
                      <a:r>
                        <a:rPr lang="en-US" sz="1899">
                          <a:solidFill>
                            <a:srgbClr val="FFFFFF"/>
                          </a:solidFill>
                          <a:latin typeface="Canva Sans"/>
                          <a:ea typeface="Canva Sans"/>
                          <a:cs typeface="Canva Sans"/>
                          <a:sym typeface="Canva Sans"/>
                        </a:rPr>
                        <a:t>%[^\n]s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Scan Set(String with Spaces)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Canva Sans"/>
                          <a:ea typeface="Canva Sans"/>
                          <a:cs typeface="Canva Sans"/>
                          <a:sym typeface="Canva Sans"/>
                        </a:rPr>
                        <a:t>Used for Name, it tells scanf to read everything until you see a new Line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803708">
                <a:tc>
                  <a:txBody>
                    <a:bodyPr/>
                    <a:lstStyle/>
                    <a:p>
                      <a:pPr algn="ctr">
                        <a:lnSpc>
                          <a:spcPts val="2518"/>
                        </a:lnSpc>
                        <a:defRPr/>
                      </a:pPr>
                      <a:r>
                        <a:rPr lang="en-US" sz="1799" b="1">
                          <a:solidFill>
                            <a:srgbClr val="FFFFFF"/>
                          </a:solidFill>
                          <a:latin typeface="Arimo Bold"/>
                          <a:ea typeface="Arimo Bold"/>
                          <a:cs typeface="Arimo Bold"/>
                          <a:sym typeface="Arimo Bold"/>
                        </a:rPr>
                        <a:t>"wb"</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Write Binary</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Creates a new file for writing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803708">
                <a:tc>
                  <a:txBody>
                    <a:bodyPr/>
                    <a:lstStyle/>
                    <a:p>
                      <a:pPr algn="ctr">
                        <a:lnSpc>
                          <a:spcPts val="2658"/>
                        </a:lnSpc>
                        <a:defRPr/>
                      </a:pPr>
                      <a:r>
                        <a:rPr lang="en-US" sz="1899">
                          <a:solidFill>
                            <a:srgbClr val="FFFFFF"/>
                          </a:solidFill>
                          <a:latin typeface="Canva Sans"/>
                          <a:ea typeface="Canva Sans"/>
                          <a:cs typeface="Canva Sans"/>
                          <a:sym typeface="Canva Sans"/>
                        </a:rPr>
                        <a:t>"rb"</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Read Binary</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Opens an existing file Just to look at data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803708">
                <a:tc>
                  <a:txBody>
                    <a:bodyPr/>
                    <a:lstStyle/>
                    <a:p>
                      <a:pPr algn="ctr">
                        <a:lnSpc>
                          <a:spcPts val="2658"/>
                        </a:lnSpc>
                        <a:defRPr/>
                      </a:pPr>
                      <a:r>
                        <a:rPr lang="en-US" sz="1899">
                          <a:solidFill>
                            <a:srgbClr val="FFFFFF"/>
                          </a:solidFill>
                          <a:latin typeface="Canva Sans"/>
                          <a:ea typeface="Canva Sans"/>
                          <a:cs typeface="Canva Sans"/>
                          <a:sym typeface="Canva Sans"/>
                        </a:rPr>
                        <a:t>"ab"</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Append Binary</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Opens File to add data to the end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r h="803708">
                <a:tc>
                  <a:txBody>
                    <a:bodyPr/>
                    <a:lstStyle/>
                    <a:p>
                      <a:pPr algn="ctr">
                        <a:lnSpc>
                          <a:spcPts val="2518"/>
                        </a:lnSpc>
                        <a:defRPr/>
                      </a:pPr>
                      <a:r>
                        <a:rPr lang="en-US" sz="1799">
                          <a:solidFill>
                            <a:srgbClr val="FFFFFF"/>
                          </a:solidFill>
                          <a:latin typeface="Canva Sans"/>
                          <a:ea typeface="Canva Sans"/>
                          <a:cs typeface="Canva Sans"/>
                          <a:sym typeface="Canva Sans"/>
                        </a:rPr>
                        <a:t>"rb+"</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Read/Update Binary</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Opens File to Read and Write, used in updating your Balance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7"/>
                  </a:ext>
                </a:extLst>
              </a:tr>
              <a:tr h="803708">
                <a:tc>
                  <a:txBody>
                    <a:bodyPr/>
                    <a:lstStyle/>
                    <a:p>
                      <a:pPr algn="ctr">
                        <a:lnSpc>
                          <a:spcPts val="2658"/>
                        </a:lnSpc>
                        <a:defRPr/>
                      </a:pPr>
                      <a:r>
                        <a:rPr lang="en-US" sz="1899">
                          <a:solidFill>
                            <a:srgbClr val="FFFFFF"/>
                          </a:solidFill>
                          <a:latin typeface="Canva Sans"/>
                          <a:ea typeface="Canva Sans"/>
                          <a:cs typeface="Canva Sans"/>
                          <a:sym typeface="Canva Sans"/>
                        </a:rPr>
                        <a:t>fp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File Point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A Common name for the pointer that holds the file stream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8"/>
                  </a:ext>
                </a:extLst>
              </a:tr>
              <a:tr h="812446">
                <a:tc>
                  <a:txBody>
                    <a:bodyPr/>
                    <a:lstStyle/>
                    <a:p>
                      <a:pPr algn="ctr">
                        <a:lnSpc>
                          <a:spcPts val="2658"/>
                        </a:lnSpc>
                        <a:defRPr/>
                      </a:pPr>
                      <a:r>
                        <a:rPr lang="en-US" sz="1899">
                          <a:solidFill>
                            <a:srgbClr val="FFFFFF"/>
                          </a:solidFill>
                          <a:latin typeface="Canva Sans"/>
                          <a:ea typeface="Canva Sans"/>
                          <a:cs typeface="Canva Sans"/>
                          <a:sym typeface="Canva Sans"/>
                        </a:rPr>
                        <a:t>%s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Canva Sans"/>
                          <a:ea typeface="Canva Sans"/>
                          <a:cs typeface="Canva Sans"/>
                          <a:sym typeface="Canva Sans"/>
                        </a:rPr>
                        <a:t>String (Text)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8"/>
                        </a:lnSpc>
                        <a:defRPr/>
                      </a:pPr>
                      <a:r>
                        <a:rPr lang="en-US" sz="1899">
                          <a:solidFill>
                            <a:srgbClr val="FFFFFF"/>
                          </a:solidFill>
                          <a:latin typeface="Arimo"/>
                          <a:ea typeface="Arimo"/>
                          <a:cs typeface="Arimo"/>
                          <a:sym typeface="Arimo"/>
                        </a:rPr>
                        <a:t>Used For Password, Pan Number, Phone Number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4" name="TextBox 4"/>
          <p:cNvSpPr txBox="1"/>
          <p:nvPr/>
        </p:nvSpPr>
        <p:spPr>
          <a:xfrm>
            <a:off x="878329" y="4324"/>
            <a:ext cx="15738843" cy="1202045"/>
          </a:xfrm>
          <a:prstGeom prst="rect">
            <a:avLst/>
          </a:prstGeom>
        </p:spPr>
        <p:txBody>
          <a:bodyPr lIns="0" tIns="0" rIns="0" bIns="0" rtlCol="0" anchor="t">
            <a:spAutoFit/>
          </a:bodyPr>
          <a:lstStyle/>
          <a:p>
            <a:pPr algn="ctr">
              <a:lnSpc>
                <a:spcPts val="8819"/>
              </a:lnSpc>
            </a:pPr>
            <a:r>
              <a:rPr lang="en-US" sz="6300" b="1">
                <a:solidFill>
                  <a:srgbClr val="FFFFFF"/>
                </a:solidFill>
                <a:latin typeface="Canva Sans Bold"/>
                <a:ea typeface="Canva Sans Bold"/>
                <a:cs typeface="Canva Sans Bold"/>
                <a:sym typeface="Canva Sans Bold"/>
              </a:rPr>
              <a:t>Key Abbreviations Used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296113" y="204873"/>
            <a:ext cx="17695774" cy="9732588"/>
          </a:xfrm>
          <a:custGeom>
            <a:avLst/>
            <a:gdLst/>
            <a:ahLst/>
            <a:cxnLst/>
            <a:rect l="l" t="t" r="r" b="b"/>
            <a:pathLst>
              <a:path w="17695774" h="9732588">
                <a:moveTo>
                  <a:pt x="0" y="0"/>
                </a:moveTo>
                <a:lnTo>
                  <a:pt x="17695774" y="0"/>
                </a:lnTo>
                <a:lnTo>
                  <a:pt x="17695774" y="9732588"/>
                </a:lnTo>
                <a:lnTo>
                  <a:pt x="0" y="97325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3054410" y="3277895"/>
            <a:ext cx="12179179" cy="2912050"/>
          </a:xfrm>
          <a:prstGeom prst="rect">
            <a:avLst/>
          </a:prstGeom>
        </p:spPr>
        <p:txBody>
          <a:bodyPr lIns="0" tIns="0" rIns="0" bIns="0" rtlCol="0" anchor="t">
            <a:spAutoFit/>
          </a:bodyPr>
          <a:lstStyle/>
          <a:p>
            <a:pPr algn="ctr">
              <a:lnSpc>
                <a:spcPts val="19301"/>
              </a:lnSpc>
            </a:pPr>
            <a:r>
              <a:rPr lang="en-US" sz="13787" b="1" spc="-620">
                <a:solidFill>
                  <a:srgbClr val="FFFFFF"/>
                </a:solidFill>
                <a:latin typeface="Telegraf Bold"/>
                <a:ea typeface="Telegraf Bold"/>
                <a:cs typeface="Telegraf Bold"/>
                <a:sym typeface="Telegraf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955</Words>
  <Application>Microsoft Office PowerPoint</Application>
  <PresentationFormat>Custom</PresentationFormat>
  <Paragraphs>97</Paragraphs>
  <Slides>12</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12</vt:i4>
      </vt:variant>
    </vt:vector>
  </HeadingPairs>
  <TitlesOfParts>
    <vt:vector size="29" baseType="lpstr">
      <vt:lpstr>Open Sauce Light</vt:lpstr>
      <vt:lpstr>Telegraf Bold</vt:lpstr>
      <vt:lpstr>Oswald</vt:lpstr>
      <vt:lpstr>Poppins</vt:lpstr>
      <vt:lpstr>Arimo</vt:lpstr>
      <vt:lpstr>Arimo Bold</vt:lpstr>
      <vt:lpstr>Calibri</vt:lpstr>
      <vt:lpstr>Montserrat Bold</vt:lpstr>
      <vt:lpstr>Open Sauce</vt:lpstr>
      <vt:lpstr>Canva Sans</vt:lpstr>
      <vt:lpstr>Telegraf</vt:lpstr>
      <vt:lpstr>Arial</vt:lpstr>
      <vt:lpstr>Montserrat</vt:lpstr>
      <vt:lpstr>Canva Sans Bold</vt:lpstr>
      <vt:lpstr>Open Sauce Bold</vt:lpstr>
      <vt:lpstr>Canva Sans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Account Simluation.pptx</dc:title>
  <cp:lastModifiedBy>Tanishka Parab</cp:lastModifiedBy>
  <cp:revision>3</cp:revision>
  <dcterms:created xsi:type="dcterms:W3CDTF">2006-08-16T00:00:00Z</dcterms:created>
  <dcterms:modified xsi:type="dcterms:W3CDTF">2026-10-01T07:48:19Z</dcterms:modified>
  <dc:identifier>DAHCM9mfdVo</dc:identifier>
</cp:coreProperties>
</file>